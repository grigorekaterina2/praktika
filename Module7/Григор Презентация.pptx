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8" r:id="rId10"/>
    <p:sldId id="269" r:id="rId11"/>
    <p:sldId id="270" r:id="rId12"/>
    <p:sldId id="271" r:id="rId13"/>
    <p:sldId id="277" r:id="rId14"/>
    <p:sldId id="272" r:id="rId15"/>
    <p:sldId id="273" r:id="rId16"/>
    <p:sldId id="278" r:id="rId17"/>
    <p:sldId id="274" r:id="rId18"/>
    <p:sldId id="264" r:id="rId19"/>
    <p:sldId id="276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62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77211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5398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874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0810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2010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32820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8903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7394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056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8126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8835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44516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3706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00036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96270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4055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652BF-F1BB-477A-99C0-8278A054D24E}" type="datetimeFigureOut">
              <a:rPr lang="ru-BY" smtClean="0"/>
              <a:t>19.10.2026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980CE68-8FA9-4DDA-9CC5-979078D666A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1747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23646-E429-AC9D-9FC9-C4500150B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3400" y="2095967"/>
            <a:ext cx="7766936" cy="1646302"/>
          </a:xfrm>
        </p:spPr>
        <p:txBody>
          <a:bodyPr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игра «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Калах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учебному предмету «Основы алгоритмизации и программирования»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BY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C19BB9-A95F-26D5-6AB2-99FD43FBC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399" y="4093166"/>
            <a:ext cx="4064000" cy="164630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Подготовила: учащаяся Оршанского колледжа ВГУ имени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П.М.Машерова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учебной группы 2ПОИС24               Григор Екатерина Сергеевна </a:t>
            </a:r>
          </a:p>
          <a:p>
            <a:pPr algn="l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курсового проектирования: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Юржиц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Светлана Леонидовна</a:t>
            </a:r>
          </a:p>
          <a:p>
            <a:pPr algn="just"/>
            <a:endParaRPr lang="ru-RU" dirty="0">
              <a:solidFill>
                <a:schemeClr val="accent3">
                  <a:lumMod val="75000"/>
                </a:schemeClr>
              </a:solidFill>
            </a:endParaRPr>
          </a:p>
          <a:p>
            <a:pPr algn="just"/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170A8-D814-E0D7-AC6A-99CE40C86889}"/>
              </a:ext>
            </a:extLst>
          </p:cNvPr>
          <p:cNvSpPr txBox="1"/>
          <p:nvPr/>
        </p:nvSpPr>
        <p:spPr>
          <a:xfrm>
            <a:off x="1480163" y="305706"/>
            <a:ext cx="79024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40385" algn="ctr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Республики Беларусь</a:t>
            </a:r>
            <a:endParaRPr lang="ru-BY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Оршанский колледж учреждения образования</a:t>
            </a:r>
            <a:endParaRPr lang="ru-BY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ctr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«Витебский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государственный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университет имени П.М. Машерова</a:t>
            </a:r>
            <a:r>
              <a:rPr lang="ru-RU" sz="18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0F682-796F-120F-AAC1-0FC2480EFDFB}"/>
              </a:ext>
            </a:extLst>
          </p:cNvPr>
          <p:cNvSpPr txBox="1"/>
          <p:nvPr/>
        </p:nvSpPr>
        <p:spPr>
          <a:xfrm>
            <a:off x="1134532" y="1302569"/>
            <a:ext cx="85936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40385" algn="ctr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5-04-0612-02 Разработка и сопровождение программного обеспечения </a:t>
            </a:r>
            <a:endParaRPr lang="ru-BY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 систем</a:t>
            </a:r>
            <a:endParaRPr lang="ru-BY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EDADF-D74C-C0D7-B1C8-98A68846DD03}"/>
              </a:ext>
            </a:extLst>
          </p:cNvPr>
          <p:cNvSpPr txBox="1"/>
          <p:nvPr/>
        </p:nvSpPr>
        <p:spPr>
          <a:xfrm>
            <a:off x="5024667" y="592666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Орша, 2026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1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B0799-88A9-9BB9-2B11-1F0A302A9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-694266"/>
            <a:ext cx="7766936" cy="1646302"/>
          </a:xfrm>
        </p:spPr>
        <p:txBody>
          <a:bodyPr/>
          <a:lstStyle/>
          <a:p>
            <a:pPr algn="ctr"/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игра «</a:t>
            </a:r>
            <a:r>
              <a:rPr lang="ru-RU" sz="44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Калах</a:t>
            </a:r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sz="4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C0A927-077D-58B9-6E6B-67872055C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471" y="1225318"/>
            <a:ext cx="8759996" cy="1096899"/>
          </a:xfrm>
        </p:spPr>
        <p:txBody>
          <a:bodyPr>
            <a:normAutofit/>
          </a:bodyPr>
          <a:lstStyle/>
          <a:p>
            <a:pPr algn="just"/>
            <a:r>
              <a:rPr lang="ru-BY" sz="20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Калах</a:t>
            </a:r>
            <a:r>
              <a:rPr lang="ru-BY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BY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это самая популярная в мире разновидность древних настольных игр семейства </a:t>
            </a:r>
            <a:r>
              <a:rPr lang="ru-BY" sz="20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манкала</a:t>
            </a:r>
            <a:r>
              <a:rPr lang="ru-BY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(от арабского «перемещать»), в которые играют с помощью семян, камней или фишек на доске с углублениями.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570BBD-A7B3-4E45-3613-716DCFF4A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85" y="2595500"/>
            <a:ext cx="4762500" cy="31242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1742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48448B-3D61-F533-B2B3-520A6E93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8" y="355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игры «</a:t>
            </a:r>
            <a:r>
              <a:rPr lang="ru-RU" sz="4400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Калах</a:t>
            </a:r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sz="4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00FB38-45C6-377C-6135-D1651C9BA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6" t="12499" r="4017" b="8603"/>
          <a:stretch>
            <a:fillRect/>
          </a:stretch>
        </p:blipFill>
        <p:spPr>
          <a:xfrm>
            <a:off x="978573" y="1566334"/>
            <a:ext cx="9570893" cy="4470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109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4975A-B715-42E0-3CDA-B2EF9DCCA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800" y="-296574"/>
            <a:ext cx="9838267" cy="1646302"/>
          </a:xfrm>
        </p:spPr>
        <p:txBody>
          <a:bodyPr/>
          <a:lstStyle/>
          <a:p>
            <a:pPr algn="ctr"/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 курсового проекта</a:t>
            </a:r>
            <a:endParaRPr lang="ru-BY" sz="4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551311-1DC6-6B3F-3789-A8864C684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128" y="1783819"/>
            <a:ext cx="7019926" cy="4667781"/>
          </a:xfrm>
          <a:solidFill>
            <a:schemeClr val="bg2"/>
          </a:solidFill>
        </p:spPr>
        <p:txBody>
          <a:bodyPr>
            <a:noAutofit/>
          </a:bodyPr>
          <a:lstStyle/>
          <a:p>
            <a:pPr algn="l"/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BY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Когнитивное развитие</a:t>
            </a:r>
            <a:r>
              <a:rPr lang="ru-BY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стимуляция памяти, внимания и навыков стратегического планирования.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BY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Цифровизация</a:t>
            </a:r>
            <a:r>
              <a:rPr lang="ru-BY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перенос классической настольной игры в виртуальный формат для повышения её доступности.</a:t>
            </a: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BY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</a:t>
            </a:r>
            <a:r>
              <a:rPr lang="ru-BY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упрощение обучения, контроля правил и подсчета очков.</a:t>
            </a:r>
          </a:p>
          <a:p>
            <a:pPr algn="l"/>
            <a:r>
              <a:rPr lang="ru-RU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BY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возможностей</a:t>
            </a:r>
            <a:r>
              <a:rPr lang="ru-BY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внедрение ИИ, кастомизация интерфейса и звукового сопровождения для повышения интереса пользователей.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93470D-22AC-FDD4-EC89-FB5DEDED3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710" y="1688041"/>
            <a:ext cx="3956442" cy="4060825"/>
          </a:xfrm>
          <a:prstGeom prst="ellipse">
            <a:avLst/>
          </a:prstGeom>
          <a:ln w="63500" cap="rnd">
            <a:solidFill>
              <a:schemeClr val="accent2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1939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03F7053-E7AE-75F4-39A4-36C315CE3451}"/>
              </a:ext>
            </a:extLst>
          </p:cNvPr>
          <p:cNvSpPr/>
          <p:nvPr/>
        </p:nvSpPr>
        <p:spPr>
          <a:xfrm>
            <a:off x="1817602" y="1661350"/>
            <a:ext cx="7145866" cy="33951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AE7A2-5D31-4FD8-4729-C93BF9FEE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134" y="304799"/>
            <a:ext cx="7766936" cy="914401"/>
          </a:xfrm>
        </p:spPr>
        <p:txBody>
          <a:bodyPr/>
          <a:lstStyle/>
          <a:p>
            <a:pPr algn="ctr"/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проекта</a:t>
            </a:r>
            <a:endParaRPr lang="ru-BY" sz="4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C1E6B5-A114-D034-04F3-4F0A37BD1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9869" y="1925701"/>
            <a:ext cx="6547465" cy="2544700"/>
          </a:xfrm>
        </p:spPr>
        <p:txBody>
          <a:bodyPr>
            <a:noAutofit/>
          </a:bodyPr>
          <a:lstStyle/>
          <a:p>
            <a:pPr algn="just"/>
            <a:r>
              <a:rPr lang="ru-BY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проектирования заключается в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систематизации, углублении, закреплении и практическом применении полученных теоретических знаний и практических умений, формировании навыков самостоятельной работы при решении профессиональных задач</a:t>
            </a:r>
            <a:r>
              <a:rPr lang="ru-BY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 учётом достоинств и недостатков существующих аналогов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разработка приложения «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Kalah: Your Turn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для автоматизации логической игры «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Калах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endParaRPr lang="ru-BY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91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51888-D115-6E98-91EC-DF18EC91C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8" y="0"/>
            <a:ext cx="8331200" cy="1320800"/>
          </a:xfrm>
        </p:spPr>
        <p:txBody>
          <a:bodyPr>
            <a:noAutofit/>
          </a:bodyPr>
          <a:lstStyle/>
          <a:p>
            <a:pPr algn="ctr"/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курсового проектирования</a:t>
            </a:r>
            <a:endParaRPr lang="ru-BY" sz="4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1D77C7-DA6A-2869-FB16-CDA82C88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279466" cy="388077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BY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поставленной цели необходимо решить следующие задачи:</a:t>
            </a:r>
          </a:p>
          <a:p>
            <a:pPr lvl="0"/>
            <a:r>
              <a:rPr lang="ru-BY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навыки самостоятельного решения профессиональных задач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BY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научиться применять на практике изученные технологии разработки программных средств;</a:t>
            </a:r>
            <a:endParaRPr lang="ru-BY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BY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осуществить программную реализацию логической игры «</a:t>
            </a:r>
            <a:r>
              <a:rPr lang="ru-BY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Калах</a:t>
            </a:r>
            <a:r>
              <a:rPr lang="ru-BY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в среде разработки.</a:t>
            </a:r>
          </a:p>
          <a:p>
            <a:pPr marL="0" indent="0">
              <a:buNone/>
            </a:pP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1F1D3-ECA6-C3C5-D01D-2A5A1AAFB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533" y="597340"/>
            <a:ext cx="8669866" cy="771503"/>
          </a:xfrm>
        </p:spPr>
        <p:txBody>
          <a:bodyPr/>
          <a:lstStyle/>
          <a:p>
            <a:pPr algn="ctr"/>
            <a:r>
              <a:rPr lang="ru-RU" sz="4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существующих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аналогов</a:t>
            </a:r>
            <a:endParaRPr lang="ru-BY" sz="48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E8E0F1B-C8CE-F7B6-60C2-F1E828B5D17A}"/>
              </a:ext>
            </a:extLst>
          </p:cNvPr>
          <p:cNvSpPr/>
          <p:nvPr/>
        </p:nvSpPr>
        <p:spPr>
          <a:xfrm>
            <a:off x="1439332" y="4250266"/>
            <a:ext cx="5403459" cy="23754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80D49F-EF57-66A5-D2EC-F9AD0406BA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12652" r="5834"/>
          <a:stretch>
            <a:fillRect/>
          </a:stretch>
        </p:blipFill>
        <p:spPr bwMode="auto">
          <a:xfrm rot="759252">
            <a:off x="7439437" y="4445724"/>
            <a:ext cx="4032702" cy="1759616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E75FC09A-284B-AAD2-3E4B-44A683E6177A}"/>
              </a:ext>
            </a:extLst>
          </p:cNvPr>
          <p:cNvGrpSpPr/>
          <p:nvPr/>
        </p:nvGrpSpPr>
        <p:grpSpPr>
          <a:xfrm>
            <a:off x="1439333" y="1532467"/>
            <a:ext cx="5403460" cy="2600306"/>
            <a:chOff x="1439333" y="1532467"/>
            <a:chExt cx="5403460" cy="2600306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60A038F8-1A43-672A-60FD-863338517BD6}"/>
                </a:ext>
              </a:extLst>
            </p:cNvPr>
            <p:cNvGrpSpPr/>
            <p:nvPr/>
          </p:nvGrpSpPr>
          <p:grpSpPr>
            <a:xfrm>
              <a:off x="1439333" y="1532467"/>
              <a:ext cx="5403460" cy="2600306"/>
              <a:chOff x="1439333" y="1532467"/>
              <a:chExt cx="5403460" cy="2600306"/>
            </a:xfrm>
          </p:grpSpPr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418F4FD5-1A2B-4D52-0C0F-634278779063}"/>
                  </a:ext>
                </a:extLst>
              </p:cNvPr>
              <p:cNvGrpSpPr/>
              <p:nvPr/>
            </p:nvGrpSpPr>
            <p:grpSpPr>
              <a:xfrm>
                <a:off x="1439333" y="1532467"/>
                <a:ext cx="5403460" cy="2600306"/>
                <a:chOff x="1439333" y="1532467"/>
                <a:chExt cx="5403460" cy="2600306"/>
              </a:xfrm>
            </p:grpSpPr>
            <p:grpSp>
              <p:nvGrpSpPr>
                <p:cNvPr id="18" name="Группа 17">
                  <a:extLst>
                    <a:ext uri="{FF2B5EF4-FFF2-40B4-BE49-F238E27FC236}">
                      <a16:creationId xmlns:a16="http://schemas.microsoft.com/office/drawing/2014/main" id="{1E20A5E6-2CBA-9C33-4A92-9D63FBCBC03D}"/>
                    </a:ext>
                  </a:extLst>
                </p:cNvPr>
                <p:cNvGrpSpPr/>
                <p:nvPr/>
              </p:nvGrpSpPr>
              <p:grpSpPr>
                <a:xfrm>
                  <a:off x="1439333" y="1532467"/>
                  <a:ext cx="5403460" cy="2600306"/>
                  <a:chOff x="1439333" y="1532467"/>
                  <a:chExt cx="5403460" cy="2600306"/>
                </a:xfrm>
              </p:grpSpPr>
              <p:sp>
                <p:nvSpPr>
                  <p:cNvPr id="6" name="Прямоугольник: скругленные углы 5">
                    <a:extLst>
                      <a:ext uri="{FF2B5EF4-FFF2-40B4-BE49-F238E27FC236}">
                        <a16:creationId xmlns:a16="http://schemas.microsoft.com/office/drawing/2014/main" id="{B06BF125-7D0C-4355-1F0D-129692DEBA9A}"/>
                      </a:ext>
                    </a:extLst>
                  </p:cNvPr>
                  <p:cNvSpPr/>
                  <p:nvPr/>
                </p:nvSpPr>
                <p:spPr>
                  <a:xfrm>
                    <a:off x="1439333" y="1532467"/>
                    <a:ext cx="5403460" cy="2600306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BY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" name="Google Shape;167;p17">
                    <a:extLst>
                      <a:ext uri="{FF2B5EF4-FFF2-40B4-BE49-F238E27FC236}">
                        <a16:creationId xmlns:a16="http://schemas.microsoft.com/office/drawing/2014/main" id="{1AC85468-793F-56D5-6BD5-9B142282FAA8}"/>
                      </a:ext>
                    </a:extLst>
                  </p:cNvPr>
                  <p:cNvSpPr txBox="1"/>
                  <p:nvPr/>
                </p:nvSpPr>
                <p:spPr>
                  <a:xfrm>
                    <a:off x="2302031" y="1686693"/>
                    <a:ext cx="3577749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spAutoFit/>
                  </a:bodyPr>
                  <a:lstStyle/>
                  <a:p>
                    <a:pPr lvl="0"/>
                    <a:r>
                      <a:rPr lang="en-US" sz="16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«</a:t>
                    </a:r>
                    <a:r>
                      <a:rPr lang="ru-BY" sz="1600" b="1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Mancala</a:t>
                    </a:r>
                    <a:r>
                      <a:rPr lang="en-US" sz="16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» (</a:t>
                    </a:r>
                    <a:r>
                      <a:rPr lang="ru-RU" sz="16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м</a:t>
                    </a:r>
                    <a:r>
                      <a:rPr lang="ru-RU" sz="16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обильное </a:t>
                    </a:r>
                    <a:r>
                      <a:rPr lang="ru-RU" sz="1600" b="1" i="0" u="none" strike="noStrike" cap="none" dirty="0" err="1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приложени</a:t>
                    </a:r>
                    <a:r>
                      <a:rPr lang="en-US" sz="16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)</a:t>
                    </a:r>
                    <a:endParaRPr sz="2000" dirty="0">
                      <a:solidFill>
                        <a:schemeClr val="tx2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3" name="Google Shape;173;p17">
                  <a:extLst>
                    <a:ext uri="{FF2B5EF4-FFF2-40B4-BE49-F238E27FC236}">
                      <a16:creationId xmlns:a16="http://schemas.microsoft.com/office/drawing/2014/main" id="{8107D1A7-2A90-A44E-6CA7-B7463C524238}"/>
                    </a:ext>
                  </a:extLst>
                </p:cNvPr>
                <p:cNvSpPr txBox="1"/>
                <p:nvPr/>
              </p:nvSpPr>
              <p:spPr>
                <a:xfrm>
                  <a:off x="2865384" y="1976721"/>
                  <a:ext cx="3780472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 b="1" i="0" u="none" strike="noStrike" cap="none" dirty="0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Montserrat"/>
                      <a:cs typeface="Times New Roman" panose="02020603050405020304" pitchFamily="18" charset="0"/>
                      <a:sym typeface="Montserrat"/>
                    </a:rPr>
                    <a:t>ОСОБЕННОСТИ И ПРЕИМУЩЕСТВА:</a:t>
                  </a:r>
                  <a:endParaRPr sz="20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Google Shape;174;p17">
                  <a:extLst>
                    <a:ext uri="{FF2B5EF4-FFF2-40B4-BE49-F238E27FC236}">
                      <a16:creationId xmlns:a16="http://schemas.microsoft.com/office/drawing/2014/main" id="{DDC81EDA-2547-6A3D-8FA5-3BB238353940}"/>
                    </a:ext>
                  </a:extLst>
                </p:cNvPr>
                <p:cNvSpPr txBox="1"/>
                <p:nvPr/>
              </p:nvSpPr>
              <p:spPr>
                <a:xfrm>
                  <a:off x="1643824" y="2209154"/>
                  <a:ext cx="4894164" cy="9479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just" rtl="0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Качественное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приложение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с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отличной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анимацией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и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чистым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звуком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кликов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.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Реализован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уникальный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интерактивный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режим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«Adventure» с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сюжетным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прохождением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и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встроенными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видеовставками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.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Есть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подробная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</a:t>
                  </a:r>
                  <a:r>
                    <a:rPr lang="en-US" sz="1100" i="0" u="none" strike="noStrike" cap="none" dirty="0" err="1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статистика</a:t>
                  </a:r>
                  <a:r>
                    <a:rPr lang="en-US" sz="1100" i="0" u="none" strike="noStrike" cap="none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(«Scores» и «My Games»).</a:t>
                  </a:r>
                  <a:endParaRPr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" name="Google Shape;175;p17">
                <a:extLst>
                  <a:ext uri="{FF2B5EF4-FFF2-40B4-BE49-F238E27FC236}">
                    <a16:creationId xmlns:a16="http://schemas.microsoft.com/office/drawing/2014/main" id="{FFDD183F-4E2B-B1C1-AE61-CDDF058A58C5}"/>
                  </a:ext>
                </a:extLst>
              </p:cNvPr>
              <p:cNvSpPr txBox="1"/>
              <p:nvPr/>
            </p:nvSpPr>
            <p:spPr>
              <a:xfrm>
                <a:off x="2946899" y="3103846"/>
                <a:ext cx="3780472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u="none" strike="noStrike" cap="none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Montserrat"/>
                    <a:cs typeface="Times New Roman" panose="02020603050405020304" pitchFamily="18" charset="0"/>
                    <a:sym typeface="Montserrat"/>
                  </a:rPr>
                  <a:t>КРИТИЧЕСКИЕ НЕДОСТАТКИ:</a:t>
                </a:r>
                <a:endParaRPr sz="20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Google Shape;176;p17">
              <a:extLst>
                <a:ext uri="{FF2B5EF4-FFF2-40B4-BE49-F238E27FC236}">
                  <a16:creationId xmlns:a16="http://schemas.microsoft.com/office/drawing/2014/main" id="{E064186A-3269-B613-90A4-2145D9F01040}"/>
                </a:ext>
              </a:extLst>
            </p:cNvPr>
            <p:cNvSpPr txBox="1"/>
            <p:nvPr/>
          </p:nvSpPr>
          <p:spPr>
            <a:xfrm>
              <a:off x="1643824" y="3279069"/>
              <a:ext cx="5091101" cy="710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Низкая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доступность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базовой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кастомизации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: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новые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фоны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игрового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поля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приобретаются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исключительно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за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заработанные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долгим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трудом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игровые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камни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либо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за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реальные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 </a:t>
              </a:r>
              <a:r>
                <a:rPr lang="en-US" sz="1100" b="0" i="0" u="none" strike="noStrike" cap="none" dirty="0" err="1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деньги</a:t>
              </a:r>
              <a:r>
                <a:rPr lang="en-US" sz="1100" b="0" i="0" u="none" strike="noStrike" cap="none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.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Google Shape;173;p17">
            <a:extLst>
              <a:ext uri="{FF2B5EF4-FFF2-40B4-BE49-F238E27FC236}">
                <a16:creationId xmlns:a16="http://schemas.microsoft.com/office/drawing/2014/main" id="{C7F8D4AC-2E2F-1DC2-C9EB-07120AE907D4}"/>
              </a:ext>
            </a:extLst>
          </p:cNvPr>
          <p:cNvSpPr txBox="1"/>
          <p:nvPr/>
        </p:nvSpPr>
        <p:spPr>
          <a:xfrm>
            <a:off x="2865384" y="4672425"/>
            <a:ext cx="37804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ОСОБЕННОСТИ И ПРЕИМУЩЕСТВА:</a:t>
            </a:r>
            <a:endParaRPr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175;p17">
            <a:extLst>
              <a:ext uri="{FF2B5EF4-FFF2-40B4-BE49-F238E27FC236}">
                <a16:creationId xmlns:a16="http://schemas.microsoft.com/office/drawing/2014/main" id="{E673A1D4-AB10-E90B-6C0C-48468F46D2DB}"/>
              </a:ext>
            </a:extLst>
          </p:cNvPr>
          <p:cNvSpPr txBox="1"/>
          <p:nvPr/>
        </p:nvSpPr>
        <p:spPr>
          <a:xfrm>
            <a:off x="3088580" y="5716350"/>
            <a:ext cx="37804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КРИТИЧЕСКИЕ НЕДОСТАТКИ:</a:t>
            </a:r>
            <a:endParaRPr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Google Shape;146;p16">
            <a:extLst>
              <a:ext uri="{FF2B5EF4-FFF2-40B4-BE49-F238E27FC236}">
                <a16:creationId xmlns:a16="http://schemas.microsoft.com/office/drawing/2014/main" id="{4629070D-6BC3-9C11-7705-BBAE89325EF5}"/>
              </a:ext>
            </a:extLst>
          </p:cNvPr>
          <p:cNvSpPr txBox="1"/>
          <p:nvPr/>
        </p:nvSpPr>
        <p:spPr>
          <a:xfrm>
            <a:off x="2475334" y="4360006"/>
            <a:ext cx="35604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none" strike="noStrike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«</a:t>
            </a:r>
            <a:r>
              <a:rPr lang="en-US" sz="1600" b="1" u="none" strike="noStrike" cap="non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Калах</a:t>
            </a:r>
            <a:r>
              <a:rPr lang="en-US" sz="1600" b="1" u="none" strike="noStrike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!» (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м</a:t>
            </a:r>
            <a:r>
              <a:rPr lang="en-US" sz="1600" b="1" u="none" strike="noStrike" cap="non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обильное</a:t>
            </a:r>
            <a:r>
              <a:rPr lang="en-US" sz="1600" b="1" u="none" strike="noStrike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1600" b="1" u="none" strike="noStrike" cap="none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приложение</a:t>
            </a:r>
            <a:r>
              <a:rPr lang="en-US" sz="1600" b="1" u="none" strike="noStrike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)</a:t>
            </a:r>
            <a:endParaRPr sz="20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154;p16">
            <a:extLst>
              <a:ext uri="{FF2B5EF4-FFF2-40B4-BE49-F238E27FC236}">
                <a16:creationId xmlns:a16="http://schemas.microsoft.com/office/drawing/2014/main" id="{6FC9DC45-ABAB-B5BC-A708-3BD590B9F005}"/>
              </a:ext>
            </a:extLst>
          </p:cNvPr>
          <p:cNvSpPr txBox="1"/>
          <p:nvPr/>
        </p:nvSpPr>
        <p:spPr>
          <a:xfrm>
            <a:off x="1700607" y="4845115"/>
            <a:ext cx="4837382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Строгий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,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лаконичный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и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минималистичный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интерфейс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без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лишних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отвлекающих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элементов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.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Включает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удобные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кнопки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отмены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текущего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хода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,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мгновенного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просмотра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истории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последнего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действия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и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выхода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, а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также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3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темы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оформления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156;p16">
            <a:extLst>
              <a:ext uri="{FF2B5EF4-FFF2-40B4-BE49-F238E27FC236}">
                <a16:creationId xmlns:a16="http://schemas.microsoft.com/office/drawing/2014/main" id="{0139363E-90AF-0008-6894-43F8C8CB755C}"/>
              </a:ext>
            </a:extLst>
          </p:cNvPr>
          <p:cNvSpPr txBox="1"/>
          <p:nvPr/>
        </p:nvSpPr>
        <p:spPr>
          <a:xfrm>
            <a:off x="1643824" y="5889474"/>
            <a:ext cx="5109899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Очень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медленный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темп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анимации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перемещения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камней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в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калахи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,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что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затягивает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сессию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и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утомляет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.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Ограничение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игры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жестким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лимитом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в 35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камней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для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победы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,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отсутствует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нумерация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 </a:t>
            </a:r>
            <a:r>
              <a:rPr lang="en-US" sz="1100" b="0" u="none" strike="noStrike" cap="none" dirty="0" err="1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уровней</a:t>
            </a:r>
            <a:r>
              <a:rPr lang="en-US" sz="1100" b="0" u="none" strike="noStrike" cap="none" dirty="0"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AC9208-129C-D57F-5961-9D7B3AB9E48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4"/>
          <a:stretch>
            <a:fillRect/>
          </a:stretch>
        </p:blipFill>
        <p:spPr bwMode="auto">
          <a:xfrm>
            <a:off x="8282474" y="837396"/>
            <a:ext cx="1494367" cy="3187983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72580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1A505A-53C3-4C03-D106-016880949E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6" b="5348"/>
          <a:stretch>
            <a:fillRect/>
          </a:stretch>
        </p:blipFill>
        <p:spPr bwMode="auto">
          <a:xfrm rot="607318">
            <a:off x="6198642" y="5016010"/>
            <a:ext cx="2491740" cy="1388745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75D3DB-9E85-38FC-FDFA-A00153C3351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1" b="7145"/>
          <a:stretch>
            <a:fillRect/>
          </a:stretch>
        </p:blipFill>
        <p:spPr bwMode="auto">
          <a:xfrm rot="752943">
            <a:off x="9367897" y="4868972"/>
            <a:ext cx="2440052" cy="1695361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7ECFF7C-1B9E-C593-E473-719BAFA61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679" y="8467"/>
            <a:ext cx="7766050" cy="1324505"/>
          </a:xfrm>
        </p:spPr>
        <p:txBody>
          <a:bodyPr/>
          <a:lstStyle/>
          <a:p>
            <a:pPr algn="ctr"/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существующих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аналогов</a:t>
            </a:r>
            <a:endParaRPr lang="ru-BY" sz="4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6EA8F0C-6657-C864-2351-EE2B624DB632}"/>
              </a:ext>
            </a:extLst>
          </p:cNvPr>
          <p:cNvGrpSpPr/>
          <p:nvPr/>
        </p:nvGrpSpPr>
        <p:grpSpPr>
          <a:xfrm>
            <a:off x="276753" y="1372675"/>
            <a:ext cx="5403460" cy="2600306"/>
            <a:chOff x="1439333" y="1532467"/>
            <a:chExt cx="5403460" cy="2600306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0C656E3A-BD4D-65E8-E3A9-B07E8AE7CB49}"/>
                </a:ext>
              </a:extLst>
            </p:cNvPr>
            <p:cNvGrpSpPr/>
            <p:nvPr/>
          </p:nvGrpSpPr>
          <p:grpSpPr>
            <a:xfrm>
              <a:off x="1439333" y="1532467"/>
              <a:ext cx="5403460" cy="2600306"/>
              <a:chOff x="1439333" y="1532467"/>
              <a:chExt cx="5403460" cy="2600306"/>
            </a:xfrm>
          </p:grpSpPr>
          <p:grpSp>
            <p:nvGrpSpPr>
              <p:cNvPr id="11" name="Группа 10">
                <a:extLst>
                  <a:ext uri="{FF2B5EF4-FFF2-40B4-BE49-F238E27FC236}">
                    <a16:creationId xmlns:a16="http://schemas.microsoft.com/office/drawing/2014/main" id="{D6CC953E-BEE3-1C1B-9A47-424267E6C410}"/>
                  </a:ext>
                </a:extLst>
              </p:cNvPr>
              <p:cNvGrpSpPr/>
              <p:nvPr/>
            </p:nvGrpSpPr>
            <p:grpSpPr>
              <a:xfrm>
                <a:off x="1439333" y="1532467"/>
                <a:ext cx="5403460" cy="2600306"/>
                <a:chOff x="1439333" y="1532467"/>
                <a:chExt cx="5403460" cy="2600306"/>
              </a:xfrm>
            </p:grpSpPr>
            <p:grpSp>
              <p:nvGrpSpPr>
                <p:cNvPr id="13" name="Группа 12">
                  <a:extLst>
                    <a:ext uri="{FF2B5EF4-FFF2-40B4-BE49-F238E27FC236}">
                      <a16:creationId xmlns:a16="http://schemas.microsoft.com/office/drawing/2014/main" id="{965E2319-F4BE-332C-2977-5D9C6A099D6B}"/>
                    </a:ext>
                  </a:extLst>
                </p:cNvPr>
                <p:cNvGrpSpPr/>
                <p:nvPr/>
              </p:nvGrpSpPr>
              <p:grpSpPr>
                <a:xfrm>
                  <a:off x="1439333" y="1532467"/>
                  <a:ext cx="5403460" cy="2600306"/>
                  <a:chOff x="1439333" y="1532467"/>
                  <a:chExt cx="5403460" cy="2600306"/>
                </a:xfrm>
              </p:grpSpPr>
              <p:sp>
                <p:nvSpPr>
                  <p:cNvPr id="16" name="Прямоугольник: скругленные углы 15">
                    <a:extLst>
                      <a:ext uri="{FF2B5EF4-FFF2-40B4-BE49-F238E27FC236}">
                        <a16:creationId xmlns:a16="http://schemas.microsoft.com/office/drawing/2014/main" id="{467FB56F-3E29-4A85-923D-25C54715E41B}"/>
                      </a:ext>
                    </a:extLst>
                  </p:cNvPr>
                  <p:cNvSpPr/>
                  <p:nvPr/>
                </p:nvSpPr>
                <p:spPr>
                  <a:xfrm>
                    <a:off x="1439333" y="1532467"/>
                    <a:ext cx="5403460" cy="2600306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BY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" name="Google Shape;167;p17">
                    <a:extLst>
                      <a:ext uri="{FF2B5EF4-FFF2-40B4-BE49-F238E27FC236}">
                        <a16:creationId xmlns:a16="http://schemas.microsoft.com/office/drawing/2014/main" id="{FDB9BDED-E016-FD4B-9B25-BCB7B2569FF5}"/>
                      </a:ext>
                    </a:extLst>
                  </p:cNvPr>
                  <p:cNvSpPr txBox="1"/>
                  <p:nvPr/>
                </p:nvSpPr>
                <p:spPr>
                  <a:xfrm>
                    <a:off x="2543109" y="1653033"/>
                    <a:ext cx="3292529" cy="2154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ru-RU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Montserrat"/>
                      </a:rPr>
                      <a:t>«</a:t>
                    </a:r>
                    <a:r>
                      <a:rPr lang="en-US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Montserrat"/>
                      </a:rPr>
                      <a:t>Mancala (</a:t>
                    </a:r>
                    <a:r>
                      <a:rPr lang="ru-RU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Montserrat"/>
                      </a:rPr>
                      <a:t>мобильное приложение</a:t>
                    </a:r>
                    <a:r>
                      <a:rPr lang="en-US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Montserrat"/>
                      </a:rPr>
                      <a:t>)</a:t>
                    </a:r>
                    <a:r>
                      <a:rPr lang="ru-RU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Montserrat"/>
                      </a:rPr>
                      <a:t>»</a:t>
                    </a:r>
                    <a:endParaRPr dirty="0">
                      <a:solidFill>
                        <a:schemeClr val="tx2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4" name="Google Shape;173;p17">
                  <a:extLst>
                    <a:ext uri="{FF2B5EF4-FFF2-40B4-BE49-F238E27FC236}">
                      <a16:creationId xmlns:a16="http://schemas.microsoft.com/office/drawing/2014/main" id="{D04B296F-8E39-7990-2E34-C7F883CBE0F9}"/>
                    </a:ext>
                  </a:extLst>
                </p:cNvPr>
                <p:cNvSpPr txBox="1"/>
                <p:nvPr/>
              </p:nvSpPr>
              <p:spPr>
                <a:xfrm>
                  <a:off x="2865384" y="1976721"/>
                  <a:ext cx="3780472" cy="1692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 i="0" u="none" strike="noStrike" cap="none" dirty="0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Montserrat"/>
                      <a:cs typeface="Times New Roman" panose="02020603050405020304" pitchFamily="18" charset="0"/>
                      <a:sym typeface="Montserrat"/>
                    </a:rPr>
                    <a:t>ОСОБЕННОСТИ И ПРЕИМУЩЕСТВА:</a:t>
                  </a:r>
                  <a:endParaRPr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Google Shape;174;p17">
                  <a:extLst>
                    <a:ext uri="{FF2B5EF4-FFF2-40B4-BE49-F238E27FC236}">
                      <a16:creationId xmlns:a16="http://schemas.microsoft.com/office/drawing/2014/main" id="{2BE3ED0D-11AE-C2FA-D843-D06A0E057D53}"/>
                    </a:ext>
                  </a:extLst>
                </p:cNvPr>
                <p:cNvSpPr txBox="1"/>
                <p:nvPr/>
              </p:nvSpPr>
              <p:spPr>
                <a:xfrm>
                  <a:off x="1625303" y="2110283"/>
                  <a:ext cx="4894164" cy="11849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algn="just">
                    <a:lnSpc>
                      <a:spcPct val="140000"/>
                    </a:lnSpc>
                  </a:pPr>
                  <a:r>
                    <a:rPr lang="ru-RU" sz="1100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Яркая адаптация с глубокой кастомизацией оппонентов (одежда, причёски, черты лица). </a:t>
                  </a:r>
                  <a:r>
                    <a:rPr lang="ru-RU" sz="1200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Интегрирована</a:t>
                  </a:r>
                  <a:r>
                    <a:rPr lang="ru-RU" sz="1100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 система цветовых подсказок: розовый цвет выделяет ячейку, гарантирующую захват камней визави, а зелёный — дополнительный ход</a:t>
                  </a:r>
                  <a:r>
                    <a:rPr lang="ru-RU" sz="1100" dirty="0">
                      <a:solidFill>
                        <a:srgbClr val="334155"/>
                      </a:solidFill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.</a:t>
                  </a:r>
                  <a:endParaRPr lang="ru-RU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marR="0" lvl="0" indent="0" algn="just" rtl="0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" name="Google Shape;175;p17">
                <a:extLst>
                  <a:ext uri="{FF2B5EF4-FFF2-40B4-BE49-F238E27FC236}">
                    <a16:creationId xmlns:a16="http://schemas.microsoft.com/office/drawing/2014/main" id="{F94B3C30-6917-6257-9AB5-E91F3FD752FA}"/>
                  </a:ext>
                </a:extLst>
              </p:cNvPr>
              <p:cNvSpPr txBox="1"/>
              <p:nvPr/>
            </p:nvSpPr>
            <p:spPr>
              <a:xfrm>
                <a:off x="2946899" y="3103846"/>
                <a:ext cx="3780472" cy="1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i="0" u="none" strike="noStrike" cap="none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Montserrat"/>
                    <a:cs typeface="Times New Roman" panose="02020603050405020304" pitchFamily="18" charset="0"/>
                    <a:sym typeface="Montserrat"/>
                  </a:rPr>
                  <a:t>КРИТИЧЕСКИЕ НЕДОСТАТКИ:</a:t>
                </a:r>
                <a:endParaRPr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" name="Google Shape;176;p17">
              <a:extLst>
                <a:ext uri="{FF2B5EF4-FFF2-40B4-BE49-F238E27FC236}">
                  <a16:creationId xmlns:a16="http://schemas.microsoft.com/office/drawing/2014/main" id="{BD162BD6-106B-A525-B31F-D89BD5CFE2FF}"/>
                </a:ext>
              </a:extLst>
            </p:cNvPr>
            <p:cNvSpPr txBox="1"/>
            <p:nvPr/>
          </p:nvSpPr>
          <p:spPr>
            <a:xfrm>
              <a:off x="1643824" y="3279069"/>
              <a:ext cx="5091101" cy="710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40000"/>
                </a:lnSpc>
              </a:pPr>
              <a:r>
                <a:rPr lang="ru-RU" sz="1100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Жесткая монетизация на базе «жизней», блокирующая непрерывную игру. Агрессивный донат за реальные деньги и избыток рекламы. Доступно всего 4 варианта оформления досок.</a:t>
              </a:r>
              <a:endParaRPr lang="ru-RU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CD89811-5027-DBE0-E39C-3D8E8E87F3FC}"/>
              </a:ext>
            </a:extLst>
          </p:cNvPr>
          <p:cNvGrpSpPr/>
          <p:nvPr/>
        </p:nvGrpSpPr>
        <p:grpSpPr>
          <a:xfrm>
            <a:off x="276753" y="4138033"/>
            <a:ext cx="5403460" cy="2600306"/>
            <a:chOff x="1439333" y="1532467"/>
            <a:chExt cx="5403460" cy="2600306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FA20AB3E-0265-7EE7-9EA3-66A295B3721F}"/>
                </a:ext>
              </a:extLst>
            </p:cNvPr>
            <p:cNvGrpSpPr/>
            <p:nvPr/>
          </p:nvGrpSpPr>
          <p:grpSpPr>
            <a:xfrm>
              <a:off x="1439333" y="1532467"/>
              <a:ext cx="5403460" cy="2600306"/>
              <a:chOff x="1439333" y="1532467"/>
              <a:chExt cx="5403460" cy="2600306"/>
            </a:xfrm>
          </p:grpSpPr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96CCA3EF-03FC-7B74-A132-0BF64E53F4B2}"/>
                  </a:ext>
                </a:extLst>
              </p:cNvPr>
              <p:cNvGrpSpPr/>
              <p:nvPr/>
            </p:nvGrpSpPr>
            <p:grpSpPr>
              <a:xfrm>
                <a:off x="1439333" y="1532467"/>
                <a:ext cx="5403460" cy="2600306"/>
                <a:chOff x="1439333" y="1532467"/>
                <a:chExt cx="5403460" cy="2600306"/>
              </a:xfrm>
            </p:grpSpPr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D20FF63A-AFAE-6838-2FF1-D7AA8C54A462}"/>
                    </a:ext>
                  </a:extLst>
                </p:cNvPr>
                <p:cNvGrpSpPr/>
                <p:nvPr/>
              </p:nvGrpSpPr>
              <p:grpSpPr>
                <a:xfrm>
                  <a:off x="1439333" y="1532467"/>
                  <a:ext cx="5403460" cy="2600306"/>
                  <a:chOff x="1439333" y="1532467"/>
                  <a:chExt cx="5403460" cy="2600306"/>
                </a:xfrm>
              </p:grpSpPr>
              <p:sp>
                <p:nvSpPr>
                  <p:cNvPr id="26" name="Прямоугольник: скругленные углы 25">
                    <a:extLst>
                      <a:ext uri="{FF2B5EF4-FFF2-40B4-BE49-F238E27FC236}">
                        <a16:creationId xmlns:a16="http://schemas.microsoft.com/office/drawing/2014/main" id="{FC3ABEC0-8357-901B-761F-800EF52A2071}"/>
                      </a:ext>
                    </a:extLst>
                  </p:cNvPr>
                  <p:cNvSpPr/>
                  <p:nvPr/>
                </p:nvSpPr>
                <p:spPr>
                  <a:xfrm>
                    <a:off x="1439333" y="1532467"/>
                    <a:ext cx="5403460" cy="2600306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BY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" name="Google Shape;167;p17">
                    <a:extLst>
                      <a:ext uri="{FF2B5EF4-FFF2-40B4-BE49-F238E27FC236}">
                        <a16:creationId xmlns:a16="http://schemas.microsoft.com/office/drawing/2014/main" id="{900B02BB-C926-4EE1-E2B5-F1EB87B48D1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5384" y="1652398"/>
                    <a:ext cx="2780347" cy="2154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4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«</a:t>
                    </a:r>
                    <a:r>
                      <a:rPr lang="en-US" sz="1400" b="1" i="0" u="none" strike="noStrike" cap="none" dirty="0" err="1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Oware</a:t>
                    </a:r>
                    <a:r>
                      <a:rPr lang="en-US" sz="14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 </a:t>
                    </a:r>
                    <a:r>
                      <a:rPr lang="en-US" sz="1400" b="1" i="0" u="none" strike="noStrike" cap="none" dirty="0" err="1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Awari</a:t>
                    </a:r>
                    <a:r>
                      <a:rPr lang="en-US" sz="14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» (ПК-</a:t>
                    </a:r>
                    <a:r>
                      <a:rPr lang="en-US" sz="1400" b="1" i="0" u="none" strike="noStrike" cap="none" dirty="0" err="1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версия</a:t>
                    </a:r>
                    <a:r>
                      <a:rPr lang="en-US" sz="1400" b="1" i="0" u="none" strike="noStrike" cap="none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)</a:t>
                    </a:r>
                    <a:endParaRPr dirty="0">
                      <a:solidFill>
                        <a:schemeClr val="tx2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4" name="Google Shape;173;p17">
                  <a:extLst>
                    <a:ext uri="{FF2B5EF4-FFF2-40B4-BE49-F238E27FC236}">
                      <a16:creationId xmlns:a16="http://schemas.microsoft.com/office/drawing/2014/main" id="{97D6E1FB-2C38-983A-3418-2DE920661C07}"/>
                    </a:ext>
                  </a:extLst>
                </p:cNvPr>
                <p:cNvSpPr txBox="1"/>
                <p:nvPr/>
              </p:nvSpPr>
              <p:spPr>
                <a:xfrm>
                  <a:off x="2865384" y="1897023"/>
                  <a:ext cx="3780472" cy="1692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 i="0" u="none" strike="noStrike" cap="none" dirty="0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Montserrat"/>
                      <a:cs typeface="Times New Roman" panose="02020603050405020304" pitchFamily="18" charset="0"/>
                      <a:sym typeface="Montserrat"/>
                    </a:rPr>
                    <a:t>ОСОБЕННОСТИ И ПРЕИМУЩЕСТВА:</a:t>
                  </a:r>
                  <a:endParaRPr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Google Shape;174;p17">
                  <a:extLst>
                    <a:ext uri="{FF2B5EF4-FFF2-40B4-BE49-F238E27FC236}">
                      <a16:creationId xmlns:a16="http://schemas.microsoft.com/office/drawing/2014/main" id="{4FFB317C-69CE-9260-484F-D34F10B0DBDE}"/>
                    </a:ext>
                  </a:extLst>
                </p:cNvPr>
                <p:cNvSpPr txBox="1"/>
                <p:nvPr/>
              </p:nvSpPr>
              <p:spPr>
                <a:xfrm>
                  <a:off x="1625303" y="2060058"/>
                  <a:ext cx="5198969" cy="12926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lvl="0">
                    <a:lnSpc>
                      <a:spcPct val="140000"/>
                    </a:lnSpc>
                  </a:pPr>
                  <a:r>
                    <a:rPr lang="ru-RU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Отличается хорошо проработанной анимацией, приятным интерфейсом и качественным звуком кликов (с кнопкой его отключения). Правила представлены с наглядными графическими пояснениями. Уникальной чертой является режим «</a:t>
                  </a:r>
                  <a:r>
                    <a:rPr lang="ru-RU" sz="1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Adventure</a:t>
                  </a:r>
                  <a:r>
                    <a:rPr lang="ru-RU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» с интерактивными уровнями против других персонажей и видео-анимацией на переходах. Внедрена кнопка «</a:t>
                  </a:r>
                  <a:r>
                    <a:rPr lang="ru-RU" sz="1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Scores</a:t>
                  </a:r>
                  <a:r>
                    <a:rPr lang="ru-RU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» (статистика в баллах), «My Games» (история игр и шеринг прогресса) и выбор сложности.</a:t>
                  </a:r>
                </a:p>
              </p:txBody>
            </p:sp>
          </p:grpSp>
          <p:sp>
            <p:nvSpPr>
              <p:cNvPr id="22" name="Google Shape;175;p17">
                <a:extLst>
                  <a:ext uri="{FF2B5EF4-FFF2-40B4-BE49-F238E27FC236}">
                    <a16:creationId xmlns:a16="http://schemas.microsoft.com/office/drawing/2014/main" id="{DF029F4D-2BAA-30E3-EEB3-9B3A1FFEF9AA}"/>
                  </a:ext>
                </a:extLst>
              </p:cNvPr>
              <p:cNvSpPr txBox="1"/>
              <p:nvPr/>
            </p:nvSpPr>
            <p:spPr>
              <a:xfrm>
                <a:off x="2938410" y="3349599"/>
                <a:ext cx="3780472" cy="1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i="0" u="none" strike="noStrike" cap="none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Montserrat"/>
                    <a:cs typeface="Times New Roman" panose="02020603050405020304" pitchFamily="18" charset="0"/>
                    <a:sym typeface="Montserrat"/>
                  </a:rPr>
                  <a:t>КРИТИЧЕСКИЕ НЕДОСТАТКИ:</a:t>
                </a:r>
                <a:endParaRPr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Google Shape;176;p17">
              <a:extLst>
                <a:ext uri="{FF2B5EF4-FFF2-40B4-BE49-F238E27FC236}">
                  <a16:creationId xmlns:a16="http://schemas.microsoft.com/office/drawing/2014/main" id="{1123E0BE-20B2-7E2A-D10F-AE1856F52D0E}"/>
                </a:ext>
              </a:extLst>
            </p:cNvPr>
            <p:cNvSpPr txBox="1"/>
            <p:nvPr/>
          </p:nvSpPr>
          <p:spPr>
            <a:xfrm>
              <a:off x="1643824" y="3515755"/>
              <a:ext cx="5091101" cy="452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40000"/>
                </a:lnSpc>
              </a:pPr>
              <a:r>
                <a:rPr lang="ru-RU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Смена фона игрового поля осуществляется за камешки, которые необходимо долго зарабатывать выигрышами или приобретать за реальные деньги.</a:t>
              </a: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B1643BF2-A2DD-B0E3-8BF7-E0B778E73CEB}"/>
              </a:ext>
            </a:extLst>
          </p:cNvPr>
          <p:cNvGrpSpPr/>
          <p:nvPr/>
        </p:nvGrpSpPr>
        <p:grpSpPr>
          <a:xfrm>
            <a:off x="8194813" y="1013835"/>
            <a:ext cx="3844787" cy="3647766"/>
            <a:chOff x="1439333" y="1532467"/>
            <a:chExt cx="5403460" cy="2600306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F43BE4FD-1789-BCD1-8D92-840E964F294B}"/>
                </a:ext>
              </a:extLst>
            </p:cNvPr>
            <p:cNvGrpSpPr/>
            <p:nvPr/>
          </p:nvGrpSpPr>
          <p:grpSpPr>
            <a:xfrm>
              <a:off x="1439333" y="1532467"/>
              <a:ext cx="5403460" cy="2600306"/>
              <a:chOff x="1439333" y="1532467"/>
              <a:chExt cx="5403460" cy="2600306"/>
            </a:xfrm>
          </p:grpSpPr>
          <p:grpSp>
            <p:nvGrpSpPr>
              <p:cNvPr id="31" name="Группа 30">
                <a:extLst>
                  <a:ext uri="{FF2B5EF4-FFF2-40B4-BE49-F238E27FC236}">
                    <a16:creationId xmlns:a16="http://schemas.microsoft.com/office/drawing/2014/main" id="{0209595A-39B5-9B5F-DAD8-D5456B1DFA68}"/>
                  </a:ext>
                </a:extLst>
              </p:cNvPr>
              <p:cNvGrpSpPr/>
              <p:nvPr/>
            </p:nvGrpSpPr>
            <p:grpSpPr>
              <a:xfrm>
                <a:off x="1439333" y="1532467"/>
                <a:ext cx="5403460" cy="2600306"/>
                <a:chOff x="1439333" y="1532467"/>
                <a:chExt cx="5403460" cy="2600306"/>
              </a:xfrm>
            </p:grpSpPr>
            <p:grpSp>
              <p:nvGrpSpPr>
                <p:cNvPr id="33" name="Группа 32">
                  <a:extLst>
                    <a:ext uri="{FF2B5EF4-FFF2-40B4-BE49-F238E27FC236}">
                      <a16:creationId xmlns:a16="http://schemas.microsoft.com/office/drawing/2014/main" id="{6F2D53E2-5224-B9C4-DE43-F4C74ED0809C}"/>
                    </a:ext>
                  </a:extLst>
                </p:cNvPr>
                <p:cNvGrpSpPr/>
                <p:nvPr/>
              </p:nvGrpSpPr>
              <p:grpSpPr>
                <a:xfrm>
                  <a:off x="1439333" y="1532467"/>
                  <a:ext cx="5403460" cy="2600306"/>
                  <a:chOff x="1439333" y="1532467"/>
                  <a:chExt cx="5403460" cy="2600306"/>
                </a:xfrm>
              </p:grpSpPr>
              <p:sp>
                <p:nvSpPr>
                  <p:cNvPr id="36" name="Прямоугольник: скругленные углы 35">
                    <a:extLst>
                      <a:ext uri="{FF2B5EF4-FFF2-40B4-BE49-F238E27FC236}">
                        <a16:creationId xmlns:a16="http://schemas.microsoft.com/office/drawing/2014/main" id="{2288BE74-0793-07C2-71D6-A756DB84F019}"/>
                      </a:ext>
                    </a:extLst>
                  </p:cNvPr>
                  <p:cNvSpPr/>
                  <p:nvPr/>
                </p:nvSpPr>
                <p:spPr>
                  <a:xfrm>
                    <a:off x="1439333" y="1532467"/>
                    <a:ext cx="5403460" cy="2600306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BY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7" name="Google Shape;167;p17">
                    <a:extLst>
                      <a:ext uri="{FF2B5EF4-FFF2-40B4-BE49-F238E27FC236}">
                        <a16:creationId xmlns:a16="http://schemas.microsoft.com/office/drawing/2014/main" id="{CA16F41F-7B86-6D0A-6348-4C055D8F153E}"/>
                      </a:ext>
                    </a:extLst>
                  </p:cNvPr>
                  <p:cNvSpPr txBox="1"/>
                  <p:nvPr/>
                </p:nvSpPr>
                <p:spPr>
                  <a:xfrm>
                    <a:off x="2299139" y="1683995"/>
                    <a:ext cx="3780470" cy="15357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t" anchorCtr="0">
                    <a:spAutoFit/>
                  </a:bodyPr>
                  <a:lstStyle/>
                  <a:p>
                    <a:pPr lvl="0"/>
                    <a:r>
                      <a:rPr lang="ru-RU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«</a:t>
                    </a:r>
                    <a:r>
                      <a:rPr lang="ru-RU" sz="1400" b="1" dirty="0" err="1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Калах</a:t>
                    </a:r>
                    <a:r>
                      <a:rPr lang="ru-RU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» (</a:t>
                    </a:r>
                    <a:r>
                      <a:rPr lang="ru-RU" sz="1400" b="1" dirty="0" err="1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Яндекс.Игры</a:t>
                    </a:r>
                    <a:r>
                      <a:rPr lang="ru-RU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 / </a:t>
                    </a:r>
                    <a:r>
                      <a:rPr lang="en-US" sz="14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Montserrat"/>
                        <a:cs typeface="Times New Roman" panose="02020603050405020304" pitchFamily="18" charset="0"/>
                        <a:sym typeface="Montserrat"/>
                      </a:rPr>
                      <a:t>Web)</a:t>
                    </a:r>
                    <a:endParaRPr lang="en-US" sz="1600" dirty="0">
                      <a:solidFill>
                        <a:schemeClr val="tx2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4" name="Google Shape;173;p17">
                  <a:extLst>
                    <a:ext uri="{FF2B5EF4-FFF2-40B4-BE49-F238E27FC236}">
                      <a16:creationId xmlns:a16="http://schemas.microsoft.com/office/drawing/2014/main" id="{69D849C2-5500-2124-629D-AC9604B949F7}"/>
                    </a:ext>
                  </a:extLst>
                </p:cNvPr>
                <p:cNvSpPr txBox="1"/>
                <p:nvPr/>
              </p:nvSpPr>
              <p:spPr>
                <a:xfrm>
                  <a:off x="2675455" y="2011603"/>
                  <a:ext cx="3780471" cy="1206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 i="0" u="none" strike="noStrike" cap="none" dirty="0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Montserrat"/>
                      <a:cs typeface="Times New Roman" panose="02020603050405020304" pitchFamily="18" charset="0"/>
                      <a:sym typeface="Montserrat"/>
                    </a:rPr>
                    <a:t>ОСОБЕННОСТИ И ПРЕИМУЩЕСТВА:</a:t>
                  </a:r>
                  <a:endParaRPr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Google Shape;174;p17">
                  <a:extLst>
                    <a:ext uri="{FF2B5EF4-FFF2-40B4-BE49-F238E27FC236}">
                      <a16:creationId xmlns:a16="http://schemas.microsoft.com/office/drawing/2014/main" id="{5F7F932A-89CB-9438-B7FE-55A4B3113391}"/>
                    </a:ext>
                  </a:extLst>
                </p:cNvPr>
                <p:cNvSpPr txBox="1"/>
                <p:nvPr/>
              </p:nvSpPr>
              <p:spPr>
                <a:xfrm>
                  <a:off x="1693980" y="2166657"/>
                  <a:ext cx="4894164" cy="8446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spAutoFit/>
                </a:bodyPr>
                <a:lstStyle/>
                <a:p>
                  <a:pPr lvl="0">
                    <a:lnSpc>
                      <a:spcPct val="140000"/>
                    </a:lnSpc>
                  </a:pPr>
                  <a:r>
                    <a:rPr lang="ru-RU" sz="1100" dirty="0">
                      <a:latin typeface="Times New Roman" panose="02020603050405020304" pitchFamily="18" charset="0"/>
                      <a:ea typeface="Lora"/>
                      <a:cs typeface="Times New Roman" panose="02020603050405020304" pitchFamily="18" charset="0"/>
                      <a:sym typeface="Lora"/>
                    </a:rPr>
                    <a:t>Браузерная версия, не требующая установки. Интегрированы таблицы лидеров по номинациям (победы, поражения, ничьи), система ежедневных наград. Правила детально визуализированы графикой, встроен ИИ с нарастающей сложностью.</a:t>
                  </a:r>
                  <a:endParaRPr lang="ru-RU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2" name="Google Shape;175;p17">
                <a:extLst>
                  <a:ext uri="{FF2B5EF4-FFF2-40B4-BE49-F238E27FC236}">
                    <a16:creationId xmlns:a16="http://schemas.microsoft.com/office/drawing/2014/main" id="{BDE0FF95-3275-1C30-0C38-BFF6F480E62C}"/>
                  </a:ext>
                </a:extLst>
              </p:cNvPr>
              <p:cNvSpPr txBox="1"/>
              <p:nvPr/>
            </p:nvSpPr>
            <p:spPr>
              <a:xfrm>
                <a:off x="2887556" y="3080991"/>
                <a:ext cx="3780471" cy="1206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i="0" u="none" strike="noStrike" cap="none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Montserrat"/>
                    <a:cs typeface="Times New Roman" panose="02020603050405020304" pitchFamily="18" charset="0"/>
                    <a:sym typeface="Montserrat"/>
                  </a:rPr>
                  <a:t>КРИТИЧЕСКИЕ НЕДОСТАТКИ:</a:t>
                </a:r>
                <a:endParaRPr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" name="Google Shape;176;p17">
              <a:extLst>
                <a:ext uri="{FF2B5EF4-FFF2-40B4-BE49-F238E27FC236}">
                  <a16:creationId xmlns:a16="http://schemas.microsoft.com/office/drawing/2014/main" id="{E728119E-2266-485A-7913-60C5CDE9BF00}"/>
                </a:ext>
              </a:extLst>
            </p:cNvPr>
            <p:cNvSpPr txBox="1"/>
            <p:nvPr/>
          </p:nvSpPr>
          <p:spPr>
            <a:xfrm>
              <a:off x="1751691" y="3194920"/>
              <a:ext cx="5091102" cy="844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40000"/>
                </a:lnSpc>
              </a:pPr>
              <a:r>
                <a:rPr lang="ru-RU" sz="1100" dirty="0">
                  <a:latin typeface="Times New Roman" panose="02020603050405020304" pitchFamily="18" charset="0"/>
                  <a:ea typeface="Lora"/>
                  <a:cs typeface="Times New Roman" panose="02020603050405020304" pitchFamily="18" charset="0"/>
                  <a:sym typeface="Lora"/>
                </a:rPr>
                <a:t>Непривычная и неестественная физика анимации (камни взлетают строго вверх). Полное визуальное однообразие из-за фиксированного фона доски. Ключевые функции («Отмена хода», «+15 секунд») жестко привязаны к монетам.</a:t>
              </a:r>
              <a:endParaRPr lang="ru-RU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1D19AF1-1DAA-A626-1878-9B559455CF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561" y="1332972"/>
            <a:ext cx="1353730" cy="3008016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144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ED6CE-0440-7EC8-F490-3E7EF5C3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73329"/>
            <a:ext cx="8596668" cy="13208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уровень А0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E32B06-C54F-6321-79E2-7F82B7756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23" y="1256665"/>
            <a:ext cx="7905621" cy="5491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2DF873-E25C-4C4C-4C44-E1A9D17B80A9}"/>
              </a:ext>
            </a:extLst>
          </p:cNvPr>
          <p:cNvSpPr txBox="1"/>
          <p:nvPr/>
        </p:nvSpPr>
        <p:spPr>
          <a:xfrm>
            <a:off x="8331200" y="2413337"/>
            <a:ext cx="386080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Функциональное моделирование на основе методологии IDEF0 используется для отображения процессов, выполняемых системой, входных и выходных данных, управляющих воздействий и механизмов.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C75CE-E96F-8410-6AB8-BB5C9702D056}"/>
              </a:ext>
            </a:extLst>
          </p:cNvPr>
          <p:cNvSpPr txBox="1"/>
          <p:nvPr/>
        </p:nvSpPr>
        <p:spPr>
          <a:xfrm>
            <a:off x="3540487" y="54121"/>
            <a:ext cx="5874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BY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505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9870E-33BB-C3AC-B72A-361776CF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3181"/>
            <a:ext cx="8596668" cy="13208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уровень А1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EC1E43-822C-B51E-0F1E-9CEFA81A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581"/>
            <a:ext cx="8251010" cy="57244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B79857-3A61-E62A-C9E1-2DA606DD8CDD}"/>
              </a:ext>
            </a:extLst>
          </p:cNvPr>
          <p:cNvSpPr txBox="1"/>
          <p:nvPr/>
        </p:nvSpPr>
        <p:spPr>
          <a:xfrm>
            <a:off x="8331694" y="1185699"/>
            <a:ext cx="3860306" cy="480131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процессом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прием выбора лунки, реализация алгоритма «посева» и контроль правил.</a:t>
            </a:r>
          </a:p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Интеллектуальное взаимодействие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анализ состояния поля, расчет ходов ИИ по уровням сложности и принятие автоматических решений.</a:t>
            </a:r>
          </a:p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и интерфейс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отображение состояния игрового поля, индикация очереди хода, вывод сообщений и настройка тем оформления.</a:t>
            </a:r>
          </a:p>
          <a:p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данных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непрерывный подсчет камней, фиксация завершения партии и сброс параметров игры.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8AF2BA-481F-D9DC-B905-62C0A52DA7DA}"/>
              </a:ext>
            </a:extLst>
          </p:cNvPr>
          <p:cNvSpPr txBox="1"/>
          <p:nvPr/>
        </p:nvSpPr>
        <p:spPr>
          <a:xfrm>
            <a:off x="3540487" y="-113898"/>
            <a:ext cx="5349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BY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73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64700-9EE0-5F69-1AA2-723DC7D5E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7267"/>
            <a:ext cx="8596668" cy="13208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C8ADD6-EB71-B745-759A-10570CFD11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" t="4178" r="1699" b="2816"/>
          <a:stretch>
            <a:fillRect/>
          </a:stretch>
        </p:blipFill>
        <p:spPr bwMode="auto">
          <a:xfrm>
            <a:off x="0" y="1078649"/>
            <a:ext cx="8060266" cy="53889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E98AF8-5E82-7D5F-B384-693D7B286220}"/>
              </a:ext>
            </a:extLst>
          </p:cNvPr>
          <p:cNvSpPr txBox="1"/>
          <p:nvPr/>
        </p:nvSpPr>
        <p:spPr>
          <a:xfrm>
            <a:off x="7653866" y="2341984"/>
            <a:ext cx="4538134" cy="28623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Актёры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«Игрок 1» и «Игрок 2».</a:t>
            </a:r>
          </a:p>
          <a:p>
            <a:pPr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Прецеденты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«Начать новую партию» (обязательно включает «Выбор режима игры»), «Выполнить ход» (взятие и перераспределение камней)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«Настроить внешний вид»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ru-BY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опции</a:t>
            </a:r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«Начать заново», «Настроить внешний вид» (расширяется выбором цвета поля и камней), «Вернуться в меню»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8FB9D-9760-774B-21F0-4CCD4EB10718}"/>
              </a:ext>
            </a:extLst>
          </p:cNvPr>
          <p:cNvSpPr txBox="1"/>
          <p:nvPr/>
        </p:nvSpPr>
        <p:spPr>
          <a:xfrm>
            <a:off x="3540487" y="54121"/>
            <a:ext cx="5857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BY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56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E4DB7-D2A9-6E0A-4CA2-DF576CAB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33069"/>
            <a:ext cx="6715934" cy="13208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выполнения хода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D7FED4-30AA-6E4D-7BC6-3B512AD3A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579" y="0"/>
            <a:ext cx="410756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A2D9FA-F3A9-B6EC-C944-A47CDE30F061}"/>
              </a:ext>
            </a:extLst>
          </p:cNvPr>
          <p:cNvSpPr txBox="1"/>
          <p:nvPr/>
        </p:nvSpPr>
        <p:spPr>
          <a:xfrm>
            <a:off x="345017" y="1170338"/>
            <a:ext cx="7742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 — это графический способ описания алгоритма, при котором отдельные операции или этапы процесса изображаются в виде геометрических фигур (блоков), а последовательность их выполнения — стрелками, соединяющими эти блоки.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5E8DE-8CBB-0A2B-BD2A-79F247B30CEB}"/>
              </a:ext>
            </a:extLst>
          </p:cNvPr>
          <p:cNvSpPr txBox="1"/>
          <p:nvPr/>
        </p:nvSpPr>
        <p:spPr>
          <a:xfrm>
            <a:off x="700530" y="2652848"/>
            <a:ext cx="738710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ru-BY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Программа получает от пользователя номер выбранной лунки.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BY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Проверка корректности выбора: если выбранная лунка не принадлежит текущему игроку или в ней нет камней – ход запрещён.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BY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Программа запоминает количество камней в выбранной лунке, после чего производит очистку лунки.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Выполняется определение первой ячейки для распределения камней и размещение первого камня.</a:t>
            </a:r>
            <a:endParaRPr lang="ru-BY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BY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Запускается цикл для каждого камня:</a:t>
            </a:r>
          </a:p>
          <a:p>
            <a:pPr marL="342900" lvl="0" indent="-342900" algn="just">
              <a:buFont typeface="Symbol" panose="05050102010706020507" pitchFamily="18" charset="2"/>
              <a:buChar char=""/>
            </a:pPr>
            <a:r>
              <a:rPr lang="ru-BY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переход к следующей ячейке (после 13-й ячейки следующей становится 0-я);</a:t>
            </a:r>
            <a:endParaRPr lang="ru-BY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"/>
            </a:pPr>
            <a:r>
              <a:rPr lang="ru-BY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текущая ячейка является </a:t>
            </a:r>
            <a:r>
              <a:rPr lang="ru-BY" sz="16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калахом</a:t>
            </a:r>
            <a:r>
              <a:rPr lang="ru-BY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противника </a:t>
            </a: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BY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она пропускается, камень переходит в следующую ячейку;</a:t>
            </a:r>
            <a:endParaRPr lang="ru-BY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"/>
            </a:pPr>
            <a:r>
              <a:rPr lang="ru-BY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противном случае </a:t>
            </a: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выполняется добавление камня в ячейку</a:t>
            </a:r>
            <a:r>
              <a:rPr lang="ru-BY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BY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ru-BY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завершения цикла программа сохраняет позицию последнего камня.</a:t>
            </a:r>
          </a:p>
          <a:p>
            <a:pPr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</a:t>
            </a:r>
            <a:r>
              <a:rPr lang="ru-BY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передаётся алгоритму обработки особых игровых ситуаций.</a:t>
            </a:r>
            <a:endParaRPr lang="ru-BY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8511B-4AA6-A940-FEB2-08F1E09D9B27}"/>
              </a:ext>
            </a:extLst>
          </p:cNvPr>
          <p:cNvSpPr txBox="1"/>
          <p:nvPr/>
        </p:nvSpPr>
        <p:spPr>
          <a:xfrm>
            <a:off x="3084576" y="2370667"/>
            <a:ext cx="3011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Словесный алгоритм</a:t>
            </a:r>
            <a:endParaRPr lang="ru-BY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99D44-FEBB-79FF-9651-36DD10EE84B1}"/>
              </a:ext>
            </a:extLst>
          </p:cNvPr>
          <p:cNvSpPr txBox="1"/>
          <p:nvPr/>
        </p:nvSpPr>
        <p:spPr>
          <a:xfrm>
            <a:off x="3540487" y="54121"/>
            <a:ext cx="5738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BY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21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36C26-D679-AA97-FFED-364C01E0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ru-RU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</a:t>
            </a:r>
            <a:endParaRPr lang="ru-BY" sz="4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B1EDCF-BBD7-23AE-2513-CA0C453F0B7E}"/>
                  </a:ext>
                </a:extLst>
              </p:cNvPr>
              <p:cNvSpPr txBox="1"/>
              <p:nvPr/>
            </p:nvSpPr>
            <p:spPr>
              <a:xfrm>
                <a:off x="689418" y="1105105"/>
                <a:ext cx="71930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BY" i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Состояние игрового поля представлено вектором V из 14 элементов: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BY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B1EDCF-BBD7-23AE-2513-CA0C453F0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18" y="1105105"/>
                <a:ext cx="719304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FDF392-0697-BBBB-1A97-DAD48F88342B}"/>
                  </a:ext>
                </a:extLst>
              </p:cNvPr>
              <p:cNvSpPr txBox="1"/>
              <p:nvPr/>
            </p:nvSpPr>
            <p:spPr>
              <a:xfrm>
                <a:off x="2137218" y="3603541"/>
                <a:ext cx="6100232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ru-BY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ru-BY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BY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BY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BY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"/>
                                <m:ctrlPr>
                                  <a:rPr lang="ru-BY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BY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BY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BY" i="1">
                                              <a:latin typeface="Cambria Math" panose="02040503050406030204" pitchFamily="18" charset="0"/>
                                            </a:rPr>
                                            <m:t>𝑖𝑛𝑖𝑡</m:t>
                                          </m:r>
                                        </m:sub>
                                      </m:sSub>
                                      <m:r>
                                        <a:rPr lang="ru-BY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ru-BY" b="0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если </m:t>
                                      </m:r>
                                      <m:r>
                                        <a:rPr lang="ru-BY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ru-BY" b="0" i="0">
                                          <a:latin typeface="Cambria Math" panose="02040503050406030204" pitchFamily="18" charset="0"/>
                                        </a:rPr>
                                        <m:t>≠6,13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BY" b="0" i="0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ru-BY" b="0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если </m:t>
                                      </m:r>
                                      <m:r>
                                        <a:rPr lang="ru-BY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ru-BY" b="0" i="0">
                                          <a:latin typeface="Cambria Math" panose="02040503050406030204" pitchFamily="18" charset="0"/>
                                        </a:rPr>
                                        <m:t>=6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ru-BY" b="0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или </m:t>
                                      </m:r>
                                      <m:r>
                                        <a:rPr lang="ru-BY" b="0" i="0">
                                          <a:latin typeface="Cambria Math" panose="02040503050406030204" pitchFamily="18" charset="0"/>
                                        </a:rPr>
                                        <m:t>13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ru-BY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FDF392-0697-BBBB-1A97-DAD48F883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218" y="3603541"/>
                <a:ext cx="6100232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72126A-42C3-F83B-3CED-263E17EB45E6}"/>
                  </a:ext>
                </a:extLst>
              </p:cNvPr>
              <p:cNvSpPr txBox="1"/>
              <p:nvPr/>
            </p:nvSpPr>
            <p:spPr>
              <a:xfrm>
                <a:off x="2137218" y="1485673"/>
                <a:ext cx="61002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ru-BY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ru-BY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BY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BY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ru-BY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sepChr m:val=","/>
                                <m:ctrlPr>
                                  <a:rPr lang="ru-BY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BY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BY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BY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BY" i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BY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u-BY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ru-BY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72126A-42C3-F83B-3CED-263E17EB4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218" y="1485673"/>
                <a:ext cx="61002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19182A3-3DFB-0B7C-E610-A35FBF839C2E}"/>
              </a:ext>
            </a:extLst>
          </p:cNvPr>
          <p:cNvSpPr txBox="1"/>
          <p:nvPr/>
        </p:nvSpPr>
        <p:spPr>
          <a:xfrm>
            <a:off x="689418" y="1840199"/>
            <a:ext cx="6100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"/>
            </a:pPr>
            <a:r>
              <a:rPr lang="ru-B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индексы 0..5 – лунки первого игрока;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"/>
            </a:pPr>
            <a:r>
              <a:rPr lang="ru-B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индекс 6 – </a:t>
            </a:r>
            <a:r>
              <a:rPr lang="ru-BY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калах</a:t>
            </a:r>
            <a:r>
              <a:rPr lang="ru-B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первого игрока;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"/>
            </a:pPr>
            <a:r>
              <a:rPr lang="ru-B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индексы 7..12 – лунки второго игрока;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"/>
            </a:pPr>
            <a:r>
              <a:rPr lang="ru-B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индекс 13 – </a:t>
            </a:r>
            <a:r>
              <a:rPr lang="ru-BY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калах</a:t>
            </a:r>
            <a:r>
              <a:rPr lang="ru-B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второго игрока.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7E23C4-4CF8-214A-8E4E-F810F911C18F}"/>
                  </a:ext>
                </a:extLst>
              </p:cNvPr>
              <p:cNvSpPr txBox="1"/>
              <p:nvPr/>
            </p:nvSpPr>
            <p:spPr>
              <a:xfrm>
                <a:off x="154517" y="3040528"/>
                <a:ext cx="96075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540385" algn="just">
                  <a:buNone/>
                </a:pPr>
                <a:r>
                  <a:rPr lang="ru-BY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 момент старта игры количество камней в лунках задаётся константой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BY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ru-BY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𝑖𝑛𝑖𝑡</m:t>
                        </m:r>
                      </m:sub>
                    </m:sSub>
                  </m:oMath>
                </a14:m>
                <a:r>
                  <a:rPr lang="ru-BY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(4, 5 или 6), а </a:t>
                </a:r>
                <a:r>
                  <a:rPr lang="ru-BY" sz="18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калахи</a:t>
                </a:r>
                <a:r>
                  <a:rPr lang="ru-BY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обнуляются: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7E23C4-4CF8-214A-8E4E-F810F911C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17" y="3040528"/>
                <a:ext cx="9607550" cy="646331"/>
              </a:xfrm>
              <a:prstGeom prst="rect">
                <a:avLst/>
              </a:prstGeom>
              <a:blipFill>
                <a:blip r:embed="rId5"/>
                <a:stretch>
                  <a:fillRect l="-508" t="-5660" r="-571" b="-141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268D25-2DC0-101B-8040-3903ECD5FC57}"/>
                  </a:ext>
                </a:extLst>
              </p:cNvPr>
              <p:cNvSpPr txBox="1"/>
              <p:nvPr/>
            </p:nvSpPr>
            <p:spPr>
              <a:xfrm>
                <a:off x="264583" y="4554329"/>
                <a:ext cx="938741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ru-BY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Перераспределение камней (посев).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BY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 выборе игроком лунки </a:t>
                </a:r>
                <a14:m>
                  <m:oMath xmlns:m="http://schemas.openxmlformats.org/officeDocument/2006/math">
                    <m:r>
                      <a:rPr lang="ru-BY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ru-BY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количество камней в ней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BY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ru-BY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BY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становится равным 0, а в следующие ячейки по кругу добавляется по одному камню. Математически это описывается функцией инкремента для </a:t>
                </a:r>
                <a14:m>
                  <m:oMath xmlns:m="http://schemas.openxmlformats.org/officeDocument/2006/math">
                    <m:r>
                      <a:rPr lang="ru-BY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BY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шагов:</a:t>
                </a:r>
                <a:endParaRPr lang="ru-RU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268D25-2DC0-101B-8040-3903ECD5F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83" y="4554329"/>
                <a:ext cx="9387417" cy="923330"/>
              </a:xfrm>
              <a:prstGeom prst="rect">
                <a:avLst/>
              </a:prstGeom>
              <a:blipFill>
                <a:blip r:embed="rId6"/>
                <a:stretch>
                  <a:fillRect l="-519" t="-3289" r="-584" b="-92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2A3DC7-0BA6-D446-0AAE-40B3BA51A1A2}"/>
                  </a:ext>
                </a:extLst>
              </p:cNvPr>
              <p:cNvSpPr txBox="1"/>
              <p:nvPr/>
            </p:nvSpPr>
            <p:spPr>
              <a:xfrm>
                <a:off x="2137218" y="5343519"/>
                <a:ext cx="610023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:endParaRPr lang="ru-BY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ru-BY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ru-BY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ru-BY" sz="1800" i="0">
                                  <a:effectLst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𝑚𝑜𝑑</m:t>
                              </m:r>
                              <m:r>
                                <m:rPr>
                                  <m:nor/>
                                </m:rPr>
                                <a:rPr lang="ru-BY" sz="1800" i="0">
                                  <a:effectLst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sub>
                          </m:sSub>
                          <m:r>
                            <a:rPr lang="ru-BY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ru-BY" sz="1800" i="0">
                                  <a:effectLst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𝑚𝑜𝑑</m:t>
                              </m:r>
                              <m:r>
                                <m:rPr>
                                  <m:nor/>
                                </m:rPr>
                                <a:rPr lang="ru-BY" sz="1800" i="0">
                                  <a:effectLst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 </m:t>
                              </m:r>
                              <m:r>
                                <a:rPr lang="ru-BY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sub>
                          </m:sSub>
                          <m:r>
                            <a:rPr lang="ru-BY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  <m:e/>
                        <m:e/>
                      </m:mr>
                    </m:m>
                  </m:oMath>
                </a14:m>
                <a:endParaRPr lang="ru-BY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2A3DC7-0BA6-D446-0AAE-40B3BA51A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218" y="5343519"/>
                <a:ext cx="6100232" cy="646331"/>
              </a:xfrm>
              <a:prstGeom prst="rect">
                <a:avLst/>
              </a:prstGeom>
              <a:blipFill>
                <a:blip r:embed="rId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624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7C324-6240-7E3E-46DD-11B6DAB6D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77409"/>
            <a:ext cx="8596668" cy="13208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82D415-08DA-BAE3-E74E-3AE93B52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99" y="1137809"/>
            <a:ext cx="6074277" cy="59106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901B31-EB4D-953F-4AF8-89EE98F0C1CE}"/>
              </a:ext>
            </a:extLst>
          </p:cNvPr>
          <p:cNvSpPr txBox="1"/>
          <p:nvPr/>
        </p:nvSpPr>
        <p:spPr>
          <a:xfrm>
            <a:off x="7162473" y="551289"/>
            <a:ext cx="5029527" cy="477053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 определяет модульную архитектуру системы, состоящую из следующих элементов: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FormGame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центральный класс, отвечающий за игровую логику, состояние поля (</a:t>
            </a:r>
            <a:r>
              <a:rPr lang="ru-B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pits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анимацию, работу ИИ и обработку событий интерфейса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BY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FormMenu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навигационный центр, обеспечивающий запуск игры, выбор режимов и управление параметрами сложности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BY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FormRules</a:t>
            </a: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FormSettings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вспомогательные классы для отображения правил и управления визуальным оформлением (темами доски и камней)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BY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GraphicsPathExtensions</a:t>
            </a: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вспомогательные компоненты для расширения графических возможностей отрисовки и хранения конфигурационных данных.</a:t>
            </a:r>
          </a:p>
          <a:p>
            <a:pPr>
              <a:buNone/>
            </a:pP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все формы системы объединены ассоциативными связями, что формирует целостную модульную структуру, обеспечивающую стабильность работы приложения.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920BD-8D28-0144-1752-6CBF468770A0}"/>
              </a:ext>
            </a:extLst>
          </p:cNvPr>
          <p:cNvSpPr txBox="1"/>
          <p:nvPr/>
        </p:nvSpPr>
        <p:spPr>
          <a:xfrm>
            <a:off x="4189535" y="-156597"/>
            <a:ext cx="5111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endParaRPr lang="ru-BY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97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9AE93-FF50-2E3B-4EEC-A5852320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8305"/>
            <a:ext cx="8596668" cy="13208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компонентов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8A6F59-8D63-3574-7931-689B31510D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6"/>
          <a:stretch>
            <a:fillRect/>
          </a:stretch>
        </p:blipFill>
        <p:spPr bwMode="auto">
          <a:xfrm>
            <a:off x="0" y="1484602"/>
            <a:ext cx="8031866" cy="53733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6817D8-D4D3-3DB3-A766-84FC7B49E166}"/>
              </a:ext>
            </a:extLst>
          </p:cNvPr>
          <p:cNvSpPr txBox="1"/>
          <p:nvPr/>
        </p:nvSpPr>
        <p:spPr>
          <a:xfrm>
            <a:off x="8128000" y="1102578"/>
            <a:ext cx="4064000" cy="526297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 «</a:t>
            </a: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Kalah</a:t>
            </a: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Your </a:t>
            </a: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</a:t>
            </a: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>
              <a:buNone/>
            </a:pP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реализована на основе трехуровневой архитектуры: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ровень</a:t>
            </a: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интерфейса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включает «Главное меню», «Игровое поле» (центральный компонент), «Настройки» и «Правила игры»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BY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ровень</a:t>
            </a: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бизнес-логики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содержит «Логику игры» (правила и состояние), «Искусственный интеллект» (три уровня сложности) и «Менеджер анимации»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BY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B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ровень</a:t>
            </a: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инфраструктуры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включает «Менеджер настроек» (работа с </a:t>
            </a:r>
            <a:r>
              <a:rPr lang="ru-BY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app.config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«Менеджер звука» (воспроизведение WAV-файлов), графические методы и игровые таймеры.</a:t>
            </a:r>
          </a:p>
          <a:p>
            <a:pPr>
              <a:buNone/>
            </a:pPr>
            <a:r>
              <a:rPr lang="ru-B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</a:t>
            </a:r>
            <a:r>
              <a:rPr lang="ru-B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«Игровое поле» выступает связующим звеном, взаимодействуя со всеми компонентами бизнес-логики и инфраструктуры для обработки ходов, анимации и событий.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DAD2D-EEB5-D91E-B1A1-135B98BCF054}"/>
              </a:ext>
            </a:extLst>
          </p:cNvPr>
          <p:cNvSpPr txBox="1"/>
          <p:nvPr/>
        </p:nvSpPr>
        <p:spPr>
          <a:xfrm>
            <a:off x="4802021" y="0"/>
            <a:ext cx="5111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endParaRPr lang="ru-BY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464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E7DB9-BEAF-3521-3830-C555B2B0B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464" y="0"/>
            <a:ext cx="10454290" cy="1693007"/>
          </a:xfrm>
        </p:spPr>
        <p:txBody>
          <a:bodyPr>
            <a:normAutofit/>
          </a:bodyPr>
          <a:lstStyle/>
          <a:p>
            <a:r>
              <a:rPr lang="ru-RU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BY" sz="5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7F62AA3-4AE8-EE40-9DB2-8AE4009BF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275675"/>
              </p:ext>
            </p:extLst>
          </p:nvPr>
        </p:nvGraphicFramePr>
        <p:xfrm>
          <a:off x="640914" y="846503"/>
          <a:ext cx="10454290" cy="57837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08571">
                  <a:extLst>
                    <a:ext uri="{9D8B030D-6E8A-4147-A177-3AD203B41FA5}">
                      <a16:colId xmlns:a16="http://schemas.microsoft.com/office/drawing/2014/main" val="2203198018"/>
                    </a:ext>
                  </a:extLst>
                </a:gridCol>
                <a:gridCol w="7045719">
                  <a:extLst>
                    <a:ext uri="{9D8B030D-6E8A-4147-A177-3AD203B41FA5}">
                      <a16:colId xmlns:a16="http://schemas.microsoft.com/office/drawing/2014/main" val="3552663537"/>
                    </a:ext>
                  </a:extLst>
                </a:gridCol>
              </a:tblGrid>
              <a:tr h="180819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Вид теста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Выбор пустой лунки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2817406672"/>
                  </a:ext>
                </a:extLst>
              </a:tr>
              <a:tr h="359783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Что тестируем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Блокировка выбора ячеек с 0 камней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861224638"/>
                  </a:ext>
                </a:extLst>
              </a:tr>
              <a:tr h="359783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Входные данные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Исполняемый файл KalahGame.exe, текущее состояние игрового поля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611767733"/>
                  </a:ext>
                </a:extLst>
              </a:tr>
              <a:tr h="1619025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 dirty="0">
                          <a:effectLst/>
                        </a:rPr>
                        <a:t>Настройка тестового окружения</a:t>
                      </a:r>
                      <a:endParaRPr lang="ru-BY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</a:rPr>
                        <a:t>Тест выполняется на компьютере со следующими характеристиками:</a:t>
                      </a:r>
                      <a:endParaRPr lang="ru-BY" sz="1400" dirty="0">
                        <a:effectLst/>
                      </a:endParaRPr>
                    </a:p>
                    <a:p>
                      <a:pPr marL="0" lvl="0" indent="-3600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</a:rPr>
                        <a:t>процессор </a:t>
                      </a:r>
                      <a:r>
                        <a:rPr lang="en-US" sz="1200" dirty="0">
                          <a:effectLst/>
                        </a:rPr>
                        <a:t>Intel Core </a:t>
                      </a:r>
                      <a:r>
                        <a:rPr lang="en-US" sz="1200" dirty="0" err="1">
                          <a:effectLst/>
                        </a:rPr>
                        <a:t>i</a:t>
                      </a:r>
                      <a:r>
                        <a:rPr lang="ru-RU" sz="1200" dirty="0">
                          <a:effectLst/>
                        </a:rPr>
                        <a:t>7 13620</a:t>
                      </a:r>
                      <a:r>
                        <a:rPr lang="en-US" sz="1200" dirty="0">
                          <a:effectLst/>
                        </a:rPr>
                        <a:t>H</a:t>
                      </a:r>
                      <a:r>
                        <a:rPr lang="ru-RU" sz="1200" dirty="0">
                          <a:effectLst/>
                        </a:rPr>
                        <a:t> 10 ядер, частота 2.4/4.9 МГц, кэш </a:t>
                      </a:r>
                      <a:r>
                        <a:rPr lang="en-US" sz="1200" dirty="0">
                          <a:effectLst/>
                        </a:rPr>
                        <a:t>L</a:t>
                      </a:r>
                      <a:r>
                        <a:rPr lang="ru-RU" sz="1200" dirty="0">
                          <a:effectLst/>
                        </a:rPr>
                        <a:t>3 24 МБ;</a:t>
                      </a:r>
                      <a:endParaRPr lang="ru-BY" sz="1400" dirty="0">
                        <a:effectLst/>
                      </a:endParaRPr>
                    </a:p>
                    <a:p>
                      <a:pPr marL="0" lvl="0" indent="-3600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</a:rPr>
                        <a:t>ОЗУ 16 Гб;</a:t>
                      </a:r>
                      <a:endParaRPr lang="ru-BY" sz="1400" dirty="0">
                        <a:effectLst/>
                      </a:endParaRPr>
                    </a:p>
                    <a:p>
                      <a:pPr marL="0" lvl="0" indent="-3600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en-US" sz="1200" dirty="0">
                          <a:effectLst/>
                        </a:rPr>
                        <a:t>SSD</a:t>
                      </a:r>
                      <a:r>
                        <a:rPr lang="ru-RU" sz="1200" dirty="0">
                          <a:effectLst/>
                        </a:rPr>
                        <a:t> 5</a:t>
                      </a:r>
                      <a:r>
                        <a:rPr lang="en-US" sz="1200" dirty="0">
                          <a:effectLst/>
                        </a:rPr>
                        <a:t>12</a:t>
                      </a:r>
                      <a:r>
                        <a:rPr lang="ru-RU" sz="1200" dirty="0">
                          <a:effectLst/>
                        </a:rPr>
                        <a:t> Гб;</a:t>
                      </a:r>
                      <a:endParaRPr lang="ru-BY" sz="1400" dirty="0">
                        <a:effectLst/>
                      </a:endParaRPr>
                    </a:p>
                    <a:p>
                      <a:pPr marL="0" lvl="0" indent="-3600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</a:rPr>
                        <a:t>видеокарта </a:t>
                      </a:r>
                      <a:r>
                        <a:rPr lang="ru-BY" sz="1200" dirty="0">
                          <a:effectLst/>
                        </a:rPr>
                        <a:t>Intel UHD Graphics 64 </a:t>
                      </a:r>
                      <a:r>
                        <a:rPr lang="ru-BY" sz="1200" dirty="0" err="1">
                          <a:effectLst/>
                        </a:rPr>
                        <a:t>EUs</a:t>
                      </a:r>
                      <a:r>
                        <a:rPr lang="en-US" sz="1200" dirty="0">
                          <a:effectLst/>
                        </a:rPr>
                        <a:t>;</a:t>
                      </a:r>
                      <a:endParaRPr lang="ru-BY" sz="1400" dirty="0">
                        <a:effectLst/>
                      </a:endParaRPr>
                    </a:p>
                    <a:p>
                      <a:pPr marL="0" lvl="0" indent="-3600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effectLst/>
                        </a:rPr>
                        <a:t>дисплей 1</a:t>
                      </a:r>
                      <a:r>
                        <a:rPr lang="en-US" sz="1200" dirty="0">
                          <a:effectLst/>
                        </a:rPr>
                        <a:t>920</a:t>
                      </a:r>
                      <a:r>
                        <a:rPr lang="ru-RU" sz="1200" dirty="0">
                          <a:effectLst/>
                        </a:rPr>
                        <a:t>*</a:t>
                      </a:r>
                      <a:r>
                        <a:rPr lang="en-US" sz="1200" dirty="0">
                          <a:effectLst/>
                        </a:rPr>
                        <a:t>1200</a:t>
                      </a:r>
                      <a:r>
                        <a:rPr lang="ru-RU" sz="1200" dirty="0">
                          <a:effectLst/>
                        </a:rPr>
                        <a:t>;</a:t>
                      </a:r>
                      <a:endParaRPr lang="ru-BY" sz="1400" dirty="0">
                        <a:effectLst/>
                      </a:endParaRPr>
                    </a:p>
                    <a:p>
                      <a:pPr marL="0" lvl="0" indent="-360000" algn="l">
                        <a:buFont typeface="Symbol" panose="05050102010706020507" pitchFamily="18" charset="2"/>
                        <a:buChar char=""/>
                        <a:tabLst>
                          <a:tab pos="294005" algn="l"/>
                        </a:tabLst>
                      </a:pPr>
                      <a:r>
                        <a:rPr lang="en-US" sz="1200" dirty="0">
                          <a:effectLst/>
                        </a:rPr>
                        <a:t>Windows 11</a:t>
                      </a:r>
                      <a:r>
                        <a:rPr lang="ru-RU" sz="1200" dirty="0">
                          <a:effectLst/>
                        </a:rPr>
                        <a:t>.</a:t>
                      </a:r>
                      <a:endParaRPr lang="ru-BY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547786753"/>
                  </a:ext>
                </a:extLst>
              </a:tr>
              <a:tr h="904093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Шаги теста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lvl="1" indent="-360000" algn="l">
                        <a:buFont typeface="+mj-lt"/>
                        <a:buAutoNum type="arabicPeriod"/>
                        <a:tabLst>
                          <a:tab pos="200660" algn="l"/>
                        </a:tabLst>
                      </a:pPr>
                      <a:r>
                        <a:rPr lang="ru-RU" sz="1200">
                          <a:effectLst/>
                        </a:rPr>
                        <a:t>Запустить игру нажав на кнопку «НАЧАТЬ ИГРУ».</a:t>
                      </a:r>
                      <a:endParaRPr lang="ru-BY" sz="1400">
                        <a:effectLst/>
                      </a:endParaRPr>
                    </a:p>
                    <a:p>
                      <a:pPr marL="0" lvl="1" indent="-360000" algn="l">
                        <a:buFont typeface="+mj-lt"/>
                        <a:buAutoNum type="arabicPeriod"/>
                        <a:tabLst>
                          <a:tab pos="200660" algn="l"/>
                        </a:tabLst>
                      </a:pPr>
                      <a:r>
                        <a:rPr lang="ru-RU" sz="1200">
                          <a:effectLst/>
                        </a:rPr>
                        <a:t>Дождаться своего хода.</a:t>
                      </a:r>
                      <a:endParaRPr lang="ru-BY" sz="1400">
                        <a:effectLst/>
                      </a:endParaRPr>
                    </a:p>
                    <a:p>
                      <a:pPr marL="0" lvl="1" indent="-360000" algn="l">
                        <a:buFont typeface="+mj-lt"/>
                        <a:buAutoNum type="arabicPeriod"/>
                        <a:tabLst>
                          <a:tab pos="200660" algn="l"/>
                        </a:tabLst>
                      </a:pPr>
                      <a:r>
                        <a:rPr lang="ru-RU" sz="1200">
                          <a:effectLst/>
                        </a:rPr>
                        <a:t>Выбрать лунку, в которой находится 0 камней. </a:t>
                      </a:r>
                      <a:endParaRPr lang="ru-BY" sz="1400">
                        <a:effectLst/>
                      </a:endParaRPr>
                    </a:p>
                    <a:p>
                      <a:pPr marL="0" lvl="1" indent="-360000" algn="l">
                        <a:buFont typeface="+mj-lt"/>
                        <a:buAutoNum type="arabicPeriod"/>
                        <a:tabLst>
                          <a:tab pos="200660" algn="l"/>
                        </a:tabLst>
                      </a:pPr>
                      <a:r>
                        <a:rPr lang="ru-RU" sz="1200">
                          <a:effectLst/>
                        </a:rPr>
                        <a:t>Попытаться совершить ход.</a:t>
                      </a:r>
                      <a:endParaRPr lang="ru-BY" sz="1400">
                        <a:effectLst/>
                      </a:endParaRPr>
                    </a:p>
                    <a:p>
                      <a:pPr marL="0" lvl="1" indent="-360000" algn="l">
                        <a:buFont typeface="+mj-lt"/>
                        <a:buAutoNum type="arabicPeriod"/>
                        <a:tabLst>
                          <a:tab pos="200660" algn="l"/>
                        </a:tabLst>
                      </a:pPr>
                      <a:r>
                        <a:rPr lang="ru-BY" sz="1200">
                          <a:effectLst/>
                        </a:rPr>
                        <a:t>Наблюдать за поведением интерфейса.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1256917011"/>
                  </a:ext>
                </a:extLst>
              </a:tr>
              <a:tr h="361636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Ожидаемые выходные данные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Событие клика по ячейке не вызывает смену текущего игрока и перемещение камней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3810361653"/>
                  </a:ext>
                </a:extLst>
              </a:tr>
              <a:tr h="361636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Ожидаемый результат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Система игнорирует клик, ход не засчитывается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3347461173"/>
                  </a:ext>
                </a:extLst>
              </a:tr>
              <a:tr h="539676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Фактический результат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Система корректно обрабатывает ввод, выбор пустой лунки невозможен, клик игнорируется, состояние поля и очередность хода не изменилась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2545158223"/>
                  </a:ext>
                </a:extLst>
              </a:tr>
              <a:tr h="361636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Обнаруженный дефект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Дефектов не обнаружено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3035740520"/>
                  </a:ext>
                </a:extLst>
              </a:tr>
              <a:tr h="361636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Возможная причина дефекта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Отсутствует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3473143911"/>
                  </a:ext>
                </a:extLst>
              </a:tr>
              <a:tr h="361636"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>
                          <a:effectLst/>
                        </a:rPr>
                        <a:t>Предполагаемое решение</a:t>
                      </a:r>
                      <a:endParaRPr lang="ru-BY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tc>
                  <a:txBody>
                    <a:bodyPr/>
                    <a:lstStyle/>
                    <a:p>
                      <a:pPr marL="0" indent="-360000" algn="l">
                        <a:buNone/>
                      </a:pPr>
                      <a:r>
                        <a:rPr lang="ru-RU" sz="1200" dirty="0">
                          <a:effectLst/>
                        </a:rPr>
                        <a:t>Отсутствует</a:t>
                      </a:r>
                      <a:endParaRPr lang="ru-BY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987" marR="41987" marT="0" marB="0"/>
                </a:tc>
                <a:extLst>
                  <a:ext uri="{0D108BD9-81ED-4DB2-BD59-A6C34878D82A}">
                    <a16:rowId xmlns:a16="http://schemas.microsoft.com/office/drawing/2014/main" val="1176515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136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2B1AD-F233-CBBB-ADED-8B7A6EC86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6" y="93134"/>
            <a:ext cx="8830734" cy="1320800"/>
          </a:xfrm>
        </p:spPr>
        <p:txBody>
          <a:bodyPr>
            <a:noAutofit/>
          </a:bodyPr>
          <a:lstStyle/>
          <a:p>
            <a:pPr algn="ctr"/>
            <a:r>
              <a:rPr lang="ru-RU" sz="4400" b="1" dirty="0">
                <a:solidFill>
                  <a:schemeClr val="accent3">
                    <a:lumMod val="75000"/>
                  </a:schemeClr>
                </a:solidFill>
              </a:rPr>
              <a:t>Демонстрация разработанного приложения «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Kalah: Your Turn</a:t>
            </a:r>
            <a:r>
              <a:rPr lang="ru-RU" sz="4400" b="1" dirty="0">
                <a:solidFill>
                  <a:schemeClr val="accent3">
                    <a:lumMod val="75000"/>
                  </a:schemeClr>
                </a:solidFill>
              </a:rPr>
              <a:t>»</a:t>
            </a:r>
            <a:endParaRPr lang="ru-BY" sz="4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44FB4A-3CAE-E5EF-41A8-1A8FD9122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933" y="1862666"/>
            <a:ext cx="4140199" cy="414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54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3E3F6-A6A7-DC74-B78B-12D9A440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ru-RU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применения разработанной программы</a:t>
            </a:r>
            <a:endParaRPr lang="ru-BY" sz="4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B9F65-30AC-0B33-72C7-F454FBA45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55789"/>
            <a:ext cx="10388599" cy="4845973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сфере приложение может использоваться как инструмент для развития логического мышления и стратегических навыков у обучающихся. 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досуговой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сфере данное приложение предоставляет пользователям возможность интересно и с пользой проводить время за классической логической игрой. </a:t>
            </a: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приложение может применяться в качестве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демонстрационного материала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изучении основ программирования и разработки игровых приложений в учреждениях образования.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2AF6A2-9735-ABA3-5E55-32DDC5EB9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" t="2277" r="3178" b="63828"/>
          <a:stretch>
            <a:fillRect/>
          </a:stretch>
        </p:blipFill>
        <p:spPr>
          <a:xfrm>
            <a:off x="4301067" y="4055931"/>
            <a:ext cx="5999724" cy="2497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6237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19147-E2D3-4384-FB79-61E1304FF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6200"/>
            <a:ext cx="7766936" cy="806652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Итоги работы</a:t>
            </a:r>
            <a:endParaRPr lang="ru-BY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9A5067-8986-9F31-7037-C093E0C86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112899"/>
            <a:ext cx="7766936" cy="5093167"/>
          </a:xfrm>
          <a:solidFill>
            <a:schemeClr val="bg2"/>
          </a:solidFill>
        </p:spPr>
        <p:txBody>
          <a:bodyPr>
            <a:normAutofit lnSpcReduction="10000"/>
          </a:bodyPr>
          <a:lstStyle/>
          <a:p>
            <a:pPr algn="l"/>
            <a:r>
              <a:rPr lang="ru-BY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ru-BY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спроектирована модульная система (интерфейс, бизнес-логика, инфраструктура), обеспечивающая надежность и расширяемость.</a:t>
            </a:r>
          </a:p>
          <a:p>
            <a:pPr algn="l"/>
            <a:r>
              <a:rPr lang="ru-BY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</a:t>
            </a:r>
            <a:r>
              <a:rPr lang="ru-BY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на C# (Windows </a:t>
            </a:r>
            <a:r>
              <a:rPr lang="ru-BY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ru-BY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воплощены все игровые механики, включая алгоритмы захвата и ИИ с тремя уровнями сложности.</a:t>
            </a:r>
          </a:p>
          <a:p>
            <a:pPr algn="l"/>
            <a:r>
              <a:rPr lang="ru-BY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</a:t>
            </a:r>
            <a:r>
              <a:rPr lang="ru-BY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проведено модульное тестирование для обеспечения стабильности.</a:t>
            </a:r>
          </a:p>
          <a:p>
            <a:pPr algn="l"/>
            <a:r>
              <a:rPr lang="ru-BY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</a:t>
            </a:r>
            <a:r>
              <a:rPr lang="ru-BY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созданный продукт пригоден для интеллектуального досуга, развития стратегического мышления и демонстрации алгоритмов в учебных целях.</a:t>
            </a:r>
          </a:p>
          <a:p>
            <a:pPr algn="just"/>
            <a:endParaRPr lang="ru-BY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13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2F441-F21A-DF6E-E4DC-BFF4C821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2768600"/>
            <a:ext cx="8596668" cy="1320800"/>
          </a:xfrm>
        </p:spPr>
        <p:txBody>
          <a:bodyPr>
            <a:normAutofit/>
          </a:bodyPr>
          <a:lstStyle/>
          <a:p>
            <a:r>
              <a:rPr lang="en-US" sz="6000" b="1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6000" b="1" i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пасибо</a:t>
            </a:r>
            <a:r>
              <a:rPr lang="ru-RU" sz="6000" b="1" i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внимание!</a:t>
            </a:r>
            <a:endParaRPr lang="ru-BY" sz="6000" b="1" i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94888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228</TotalTime>
  <Words>1697</Words>
  <Application>Microsoft Office PowerPoint</Application>
  <PresentationFormat>Широкоэкранный</PresentationFormat>
  <Paragraphs>152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Cambria Math</vt:lpstr>
      <vt:lpstr>Symbol</vt:lpstr>
      <vt:lpstr>Times New Roman</vt:lpstr>
      <vt:lpstr>Trebuchet MS</vt:lpstr>
      <vt:lpstr>Wingdings 3</vt:lpstr>
      <vt:lpstr>Аспект</vt:lpstr>
      <vt:lpstr>Курсовой проект  Логическая игра «Калах» по учебному предмету «Основы алгоритмизации и программирования» </vt:lpstr>
      <vt:lpstr>Логическая игра «Калах»</vt:lpstr>
      <vt:lpstr>Правила игры «Калах»</vt:lpstr>
      <vt:lpstr>Актуальность темы курсового проекта</vt:lpstr>
      <vt:lpstr>Цель курсового проекта</vt:lpstr>
      <vt:lpstr>Задачи курсового проектирования</vt:lpstr>
      <vt:lpstr>Анализ существующих аналогов</vt:lpstr>
      <vt:lpstr>Анализ существующих аналогов</vt:lpstr>
      <vt:lpstr>Диаграмма IDEF0, уровень А0</vt:lpstr>
      <vt:lpstr>Диаграмма IDEF0, уровень А1</vt:lpstr>
      <vt:lpstr>Use Case</vt:lpstr>
      <vt:lpstr>Алгоритм выполнения хода</vt:lpstr>
      <vt:lpstr>Математическая модель</vt:lpstr>
      <vt:lpstr>Диаграмма классов</vt:lpstr>
      <vt:lpstr>Диаграмма компонентов</vt:lpstr>
      <vt:lpstr>Тестирование</vt:lpstr>
      <vt:lpstr>Демонстрация разработанного приложения «Kalah: Your Turn»</vt:lpstr>
      <vt:lpstr>Область применения разработанной программы</vt:lpstr>
      <vt:lpstr>Итоги работы</vt:lpstr>
      <vt:lpstr>Cпасибо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Екатерина Григор</dc:creator>
  <cp:lastModifiedBy>Екатерина Григор</cp:lastModifiedBy>
  <cp:revision>15</cp:revision>
  <dcterms:created xsi:type="dcterms:W3CDTF">2026-07-01T19:53:47Z</dcterms:created>
  <dcterms:modified xsi:type="dcterms:W3CDTF">2026-10-19T08:30:50Z</dcterms:modified>
</cp:coreProperties>
</file>